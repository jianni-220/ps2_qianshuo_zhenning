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7"/>
  </p:notesMasterIdLst>
  <p:sldIdLst>
    <p:sldId id="256" r:id="rId6"/>
  </p:sldIdLst>
  <p:sldSz cx="10693400" cy="7556500"/>
  <p:notesSz cx="6858000" cy="9144000"/>
  <p:embeddedFontLst>
    <p:embeddedFont>
      <p:font typeface="Times New Roman Bold" charset="1" panose="02020803070505020304"/>
      <p:regular r:id="rId10"/>
    </p:embeddedFont>
    <p:embeddedFont>
      <p:font typeface="Times New Roman" charset="1" panose="02020603050405020304"/>
      <p:regular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notesMasters/notesMaster1.xml" Type="http://schemas.openxmlformats.org/officeDocument/2006/relationships/notesMaster"/><Relationship Id="rId8" Target="theme/theme2.xml" Type="http://schemas.openxmlformats.org/officeDocument/2006/relationships/theme"/><Relationship Id="rId9" Target="notesSlides/notesSlide1.xml" Type="http://schemas.openxmlformats.org/officeDocument/2006/relationships/note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Source: supplied PS2 2.pdf, September 2026. Figures and simulation statistics transcribed from proposal, not newly generated. GitHub pinned source commit 4ad6f2d22220d39de153eb72f3b2724c5ab5ceeb. All 1000 batches are independent static games. Differences use unrounded means: rounded table entries may differ by 0.01. No completed human evidence. Risk coverage is an evaluation score, not causally established loss prevention. T. Rowe Price deployment is motivation only. https://github.com/JianNi-220/PS2_Qianshuo_Zhenning https://huggingface.co/spaces/Zn7777/PS2_Qianshuo_Zhenning_PM_Bid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https://github.com/JianNi-220/PS2_Qianshuo_Zhenning" TargetMode="External" Type="http://schemas.openxmlformats.org/officeDocument/2006/relationships/hyperlink"/><Relationship Id="rId5" Target="https://huggingface.co/spaces/Zn7777/PS2_Qianshuo_Zhenning_PM_Bid" TargetMode="External" Type="http://schemas.openxmlformats.org/officeDocument/2006/relationships/hyperlink"/><Relationship Id="rId6" Target="../media/image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0695442" cy="57121"/>
            <a:chOff x="0" y="0"/>
            <a:chExt cx="14260589" cy="76162"/>
          </a:xfrm>
        </p:grpSpPr>
        <p:sp>
          <p:nvSpPr>
            <p:cNvPr name="Freeform 3" id="3"/>
            <p:cNvSpPr/>
            <p:nvPr/>
          </p:nvSpPr>
          <p:spPr>
            <a:xfrm flipH="false" flipV="false" rot="0">
              <a:off x="0" y="0"/>
              <a:ext cx="14260576" cy="76200"/>
            </a:xfrm>
            <a:custGeom>
              <a:avLst/>
              <a:gdLst/>
              <a:ahLst/>
              <a:cxnLst/>
              <a:rect r="r" b="b" t="t" l="l"/>
              <a:pathLst>
                <a:path h="76200" w="14260576">
                  <a:moveTo>
                    <a:pt x="0" y="0"/>
                  </a:moveTo>
                  <a:lnTo>
                    <a:pt x="14260576" y="0"/>
                  </a:lnTo>
                  <a:lnTo>
                    <a:pt x="14260576" y="76200"/>
                  </a:lnTo>
                  <a:lnTo>
                    <a:pt x="0" y="76200"/>
                  </a:lnTo>
                  <a:close/>
                </a:path>
              </a:pathLst>
            </a:custGeom>
            <a:solidFill>
              <a:srgbClr val="003399"/>
            </a:solidFill>
          </p:spPr>
        </p:sp>
      </p:grpSp>
      <p:sp>
        <p:nvSpPr>
          <p:cNvPr name="TextBox 4" id="4"/>
          <p:cNvSpPr txBox="true"/>
          <p:nvPr/>
        </p:nvSpPr>
        <p:spPr>
          <a:xfrm rot="0">
            <a:off x="424644" y="231353"/>
            <a:ext cx="2636943" cy="112262"/>
          </a:xfrm>
          <a:prstGeom prst="rect">
            <a:avLst/>
          </a:prstGeom>
        </p:spPr>
        <p:txBody>
          <a:bodyPr anchor="t" rtlCol="false" tIns="0" lIns="0" bIns="0" rIns="0">
            <a:spAutoFit/>
          </a:bodyPr>
          <a:lstStyle/>
          <a:p>
            <a:pPr algn="l">
              <a:lnSpc>
                <a:spcPts val="832"/>
              </a:lnSpc>
            </a:pPr>
            <a:r>
              <a:rPr lang="en-US" sz="693" b="true">
                <a:solidFill>
                  <a:srgbClr val="003399"/>
                </a:solidFill>
                <a:latin typeface="Times New Roman Bold"/>
                <a:ea typeface="Times New Roman Bold"/>
                <a:cs typeface="Times New Roman Bold"/>
                <a:sym typeface="Times New Roman Bold"/>
              </a:rPr>
              <a:t>COMSCI / ECON 206  |  COMPUTATIONAL MICROECONOMICS</a:t>
            </a:r>
          </a:p>
        </p:txBody>
      </p:sp>
      <p:sp>
        <p:nvSpPr>
          <p:cNvPr name="TextBox 5" id="5"/>
          <p:cNvSpPr txBox="true"/>
          <p:nvPr/>
        </p:nvSpPr>
        <p:spPr>
          <a:xfrm rot="0">
            <a:off x="7912510" y="1385030"/>
            <a:ext cx="2748781" cy="200025"/>
          </a:xfrm>
          <a:prstGeom prst="rect">
            <a:avLst/>
          </a:prstGeom>
        </p:spPr>
        <p:txBody>
          <a:bodyPr anchor="t" rtlCol="false" tIns="0" lIns="0" bIns="0" rIns="0">
            <a:spAutoFit/>
          </a:bodyPr>
          <a:lstStyle/>
          <a:p>
            <a:pPr algn="r">
              <a:lnSpc>
                <a:spcPts val="1439"/>
              </a:lnSpc>
            </a:pPr>
            <a:r>
              <a:rPr lang="en-US" sz="1200" b="true">
                <a:solidFill>
                  <a:srgbClr val="006633"/>
                </a:solidFill>
                <a:latin typeface="Times New Roman Bold"/>
                <a:ea typeface="Times New Roman Bold"/>
                <a:cs typeface="Times New Roman Bold"/>
                <a:sym typeface="Times New Roman Bold"/>
              </a:rPr>
              <a:t>FP8  •  SESSION D  •  SEPTEMBER 2026</a:t>
            </a:r>
          </a:p>
        </p:txBody>
      </p:sp>
      <p:sp>
        <p:nvSpPr>
          <p:cNvPr name="TextBox 6" id="6"/>
          <p:cNvSpPr txBox="true"/>
          <p:nvPr/>
        </p:nvSpPr>
        <p:spPr>
          <a:xfrm rot="0">
            <a:off x="244973" y="587213"/>
            <a:ext cx="8104989" cy="391475"/>
          </a:xfrm>
          <a:prstGeom prst="rect">
            <a:avLst/>
          </a:prstGeom>
        </p:spPr>
        <p:txBody>
          <a:bodyPr anchor="t" rtlCol="false" tIns="0" lIns="0" bIns="0" rIns="0">
            <a:spAutoFit/>
          </a:bodyPr>
          <a:lstStyle/>
          <a:p>
            <a:pPr algn="l">
              <a:lnSpc>
                <a:spcPts val="2706"/>
              </a:lnSpc>
            </a:pPr>
            <a:r>
              <a:rPr lang="en-US" sz="2761" b="true">
                <a:solidFill>
                  <a:srgbClr val="003399"/>
                </a:solidFill>
                <a:latin typeface="Times New Roman Bold"/>
                <a:ea typeface="Times New Roman Bold"/>
                <a:cs typeface="Times New Roman Bold"/>
                <a:sym typeface="Times New Roman Bold"/>
              </a:rPr>
              <a:t>Auctions with Risk Reserves for Scarce AI Research</a:t>
            </a:r>
          </a:p>
        </p:txBody>
      </p:sp>
      <p:sp>
        <p:nvSpPr>
          <p:cNvPr name="TextBox 7" id="7"/>
          <p:cNvSpPr txBox="true"/>
          <p:nvPr/>
        </p:nvSpPr>
        <p:spPr>
          <a:xfrm rot="0">
            <a:off x="289583" y="1016788"/>
            <a:ext cx="3133874" cy="209550"/>
          </a:xfrm>
          <a:prstGeom prst="rect">
            <a:avLst/>
          </a:prstGeom>
        </p:spPr>
        <p:txBody>
          <a:bodyPr anchor="t" rtlCol="false" tIns="0" lIns="0" bIns="0" rIns="0">
            <a:spAutoFit/>
          </a:bodyPr>
          <a:lstStyle/>
          <a:p>
            <a:pPr algn="l">
              <a:lnSpc>
                <a:spcPts val="1574"/>
              </a:lnSpc>
            </a:pPr>
            <a:r>
              <a:rPr lang="en-US" sz="1311" b="true">
                <a:solidFill>
                  <a:srgbClr val="212A33"/>
                </a:solidFill>
                <a:latin typeface="Times New Roman Bold"/>
                <a:ea typeface="Times New Roman Bold"/>
                <a:cs typeface="Times New Roman Bold"/>
                <a:sym typeface="Times New Roman Bold"/>
              </a:rPr>
              <a:t>Zhenning Wang  ·  Qianshuo (Aaron) Wang</a:t>
            </a:r>
          </a:p>
        </p:txBody>
      </p:sp>
      <p:sp>
        <p:nvSpPr>
          <p:cNvPr name="TextBox 8" id="8"/>
          <p:cNvSpPr txBox="true"/>
          <p:nvPr/>
        </p:nvSpPr>
        <p:spPr>
          <a:xfrm rot="0">
            <a:off x="302123" y="1242155"/>
            <a:ext cx="2937644" cy="180975"/>
          </a:xfrm>
          <a:prstGeom prst="rect">
            <a:avLst/>
          </a:prstGeom>
        </p:spPr>
        <p:txBody>
          <a:bodyPr anchor="t" rtlCol="false" tIns="0" lIns="0" bIns="0" rIns="0">
            <a:spAutoFit/>
          </a:bodyPr>
          <a:lstStyle/>
          <a:p>
            <a:pPr algn="l">
              <a:lnSpc>
                <a:spcPts val="1319"/>
              </a:lnSpc>
            </a:pPr>
            <a:r>
              <a:rPr lang="en-US" sz="1099">
                <a:solidFill>
                  <a:srgbClr val="212A33"/>
                </a:solidFill>
                <a:latin typeface="Times New Roman"/>
                <a:ea typeface="Times New Roman"/>
                <a:cs typeface="Times New Roman"/>
                <a:sym typeface="Times New Roman"/>
              </a:rPr>
              <a:t>Duke Kunshan University  |  Professor Luyao Zhang</a:t>
            </a:r>
          </a:p>
        </p:txBody>
      </p:sp>
      <p:grpSp>
        <p:nvGrpSpPr>
          <p:cNvPr name="Group 9" id="9"/>
          <p:cNvGrpSpPr/>
          <p:nvPr/>
        </p:nvGrpSpPr>
        <p:grpSpPr>
          <a:xfrm rot="0">
            <a:off x="8775503" y="476233"/>
            <a:ext cx="1586735" cy="508735"/>
            <a:chOff x="0" y="0"/>
            <a:chExt cx="2697353" cy="864819"/>
          </a:xfrm>
        </p:grpSpPr>
        <p:sp>
          <p:nvSpPr>
            <p:cNvPr name="Freeform 10" id="10"/>
            <p:cNvSpPr/>
            <p:nvPr/>
          </p:nvSpPr>
          <p:spPr>
            <a:xfrm flipH="false" flipV="false" rot="0">
              <a:off x="0" y="0"/>
              <a:ext cx="2697353" cy="864870"/>
            </a:xfrm>
            <a:custGeom>
              <a:avLst/>
              <a:gdLst/>
              <a:ahLst/>
              <a:cxnLst/>
              <a:rect r="r" b="b" t="t" l="l"/>
              <a:pathLst>
                <a:path h="864870" w="2697353">
                  <a:moveTo>
                    <a:pt x="0" y="0"/>
                  </a:moveTo>
                  <a:lnTo>
                    <a:pt x="2697353" y="0"/>
                  </a:lnTo>
                  <a:lnTo>
                    <a:pt x="2697353" y="864870"/>
                  </a:lnTo>
                  <a:lnTo>
                    <a:pt x="0" y="864870"/>
                  </a:lnTo>
                  <a:lnTo>
                    <a:pt x="0" y="0"/>
                  </a:lnTo>
                  <a:close/>
                </a:path>
              </a:pathLst>
            </a:custGeom>
            <a:blipFill>
              <a:blip r:embed="rId3"/>
              <a:stretch>
                <a:fillRect l="0" t="0" r="0" b="5"/>
              </a:stretch>
            </a:blipFill>
          </p:spPr>
        </p:sp>
      </p:grpSp>
      <p:grpSp>
        <p:nvGrpSpPr>
          <p:cNvPr name="Group 11" id="11"/>
          <p:cNvGrpSpPr/>
          <p:nvPr/>
        </p:nvGrpSpPr>
        <p:grpSpPr>
          <a:xfrm rot="0">
            <a:off x="0" y="1642205"/>
            <a:ext cx="10695442" cy="535505"/>
            <a:chOff x="0" y="0"/>
            <a:chExt cx="14260589" cy="714007"/>
          </a:xfrm>
        </p:grpSpPr>
        <p:sp>
          <p:nvSpPr>
            <p:cNvPr name="Freeform 12" id="12"/>
            <p:cNvSpPr/>
            <p:nvPr/>
          </p:nvSpPr>
          <p:spPr>
            <a:xfrm flipH="false" flipV="false" rot="0">
              <a:off x="0" y="0"/>
              <a:ext cx="14260576" cy="713994"/>
            </a:xfrm>
            <a:custGeom>
              <a:avLst/>
              <a:gdLst/>
              <a:ahLst/>
              <a:cxnLst/>
              <a:rect r="r" b="b" t="t" l="l"/>
              <a:pathLst>
                <a:path h="713994" w="14260576">
                  <a:moveTo>
                    <a:pt x="0" y="0"/>
                  </a:moveTo>
                  <a:lnTo>
                    <a:pt x="14260576" y="0"/>
                  </a:lnTo>
                  <a:lnTo>
                    <a:pt x="14260576" y="713994"/>
                  </a:lnTo>
                  <a:lnTo>
                    <a:pt x="0" y="713994"/>
                  </a:lnTo>
                  <a:close/>
                </a:path>
              </a:pathLst>
            </a:custGeom>
            <a:solidFill>
              <a:srgbClr val="003399"/>
            </a:solidFill>
          </p:spPr>
        </p:sp>
      </p:grpSp>
      <p:sp>
        <p:nvSpPr>
          <p:cNvPr name="TextBox 13" id="13"/>
          <p:cNvSpPr txBox="true"/>
          <p:nvPr/>
        </p:nvSpPr>
        <p:spPr>
          <a:xfrm rot="0">
            <a:off x="424644" y="1795658"/>
            <a:ext cx="1200150" cy="219075"/>
          </a:xfrm>
          <a:prstGeom prst="rect">
            <a:avLst/>
          </a:prstGeom>
        </p:spPr>
        <p:txBody>
          <a:bodyPr anchor="t" rtlCol="false" tIns="0" lIns="0" bIns="0" rIns="0">
            <a:spAutoFit/>
          </a:bodyPr>
          <a:lstStyle/>
          <a:p>
            <a:pPr algn="l">
              <a:lnSpc>
                <a:spcPts val="1680"/>
              </a:lnSpc>
            </a:pPr>
            <a:r>
              <a:rPr lang="en-US" b="true" sz="1400">
                <a:solidFill>
                  <a:srgbClr val="E7F0C5"/>
                </a:solidFill>
                <a:latin typeface="Times New Roman Bold"/>
                <a:ea typeface="Times New Roman Bold"/>
                <a:cs typeface="Times New Roman Bold"/>
                <a:sym typeface="Times New Roman Bold"/>
              </a:rPr>
              <a:t>KEY FINDING</a:t>
            </a:r>
          </a:p>
        </p:txBody>
      </p:sp>
      <p:sp>
        <p:nvSpPr>
          <p:cNvPr name="TextBox 14" id="14"/>
          <p:cNvSpPr txBox="true"/>
          <p:nvPr/>
        </p:nvSpPr>
        <p:spPr>
          <a:xfrm rot="0">
            <a:off x="1743115" y="1681358"/>
            <a:ext cx="8766598" cy="381000"/>
          </a:xfrm>
          <a:prstGeom prst="rect">
            <a:avLst/>
          </a:prstGeom>
        </p:spPr>
        <p:txBody>
          <a:bodyPr anchor="t" rtlCol="false" tIns="0" lIns="0" bIns="0" rIns="0">
            <a:spAutoFit/>
          </a:bodyPr>
          <a:lstStyle/>
          <a:p>
            <a:pPr algn="l">
              <a:lnSpc>
                <a:spcPts val="1440"/>
              </a:lnSpc>
            </a:pPr>
            <a:r>
              <a:rPr lang="en-US" sz="1200" b="true">
                <a:solidFill>
                  <a:srgbClr val="FFFFFF"/>
                </a:solidFill>
                <a:latin typeface="Times New Roman Bold"/>
                <a:ea typeface="Times New Roman Bold"/>
                <a:cs typeface="Times New Roman Bold"/>
                <a:sym typeface="Times New Roman Bold"/>
              </a:rPr>
              <a:t>Rese</a:t>
            </a:r>
            <a:r>
              <a:rPr lang="en-US" sz="1200" b="true">
                <a:solidFill>
                  <a:srgbClr val="FFFFFF"/>
                </a:solidFill>
                <a:latin typeface="Times New Roman Bold"/>
                <a:ea typeface="Times New Roman Bold"/>
                <a:cs typeface="Times New Roman Bold"/>
                <a:sym typeface="Times New Roman Bold"/>
              </a:rPr>
              <a:t>rving one of four AI research slots for a verified high-risk request increases risk coverage but displaces private research value. In our baseline simulation, the hybrid improves mean welfare only when the firm's risk weight exceeds the break-even level λ* ≈ 0.733.</a:t>
            </a:r>
          </a:p>
        </p:txBody>
      </p:sp>
      <p:sp>
        <p:nvSpPr>
          <p:cNvPr name="TextBox 15" id="15"/>
          <p:cNvSpPr txBox="true"/>
          <p:nvPr/>
        </p:nvSpPr>
        <p:spPr>
          <a:xfrm rot="0">
            <a:off x="406142" y="2229698"/>
            <a:ext cx="1694036" cy="219075"/>
          </a:xfrm>
          <a:prstGeom prst="rect">
            <a:avLst/>
          </a:prstGeom>
        </p:spPr>
        <p:txBody>
          <a:bodyPr anchor="t" rtlCol="false" tIns="0" lIns="0" bIns="0" rIns="0">
            <a:spAutoFit/>
          </a:bodyPr>
          <a:lstStyle/>
          <a:p>
            <a:pPr algn="l">
              <a:lnSpc>
                <a:spcPts val="1680"/>
              </a:lnSpc>
            </a:pPr>
            <a:r>
              <a:rPr lang="en-US" sz="1400" b="true">
                <a:solidFill>
                  <a:srgbClr val="003399"/>
                </a:solidFill>
                <a:latin typeface="Times New Roman Bold"/>
                <a:ea typeface="Times New Roman Bold"/>
                <a:cs typeface="Times New Roman Bold"/>
                <a:sym typeface="Times New Roman Bold"/>
              </a:rPr>
              <a:t>01   Question &amp; model</a:t>
            </a:r>
          </a:p>
        </p:txBody>
      </p:sp>
      <p:grpSp>
        <p:nvGrpSpPr>
          <p:cNvPr name="Group 16" id="16"/>
          <p:cNvGrpSpPr/>
          <p:nvPr/>
        </p:nvGrpSpPr>
        <p:grpSpPr>
          <a:xfrm rot="0">
            <a:off x="215436" y="2448773"/>
            <a:ext cx="2760812" cy="11897"/>
            <a:chOff x="0" y="0"/>
            <a:chExt cx="3681082" cy="15862"/>
          </a:xfrm>
        </p:grpSpPr>
        <p:sp>
          <p:nvSpPr>
            <p:cNvPr name="Freeform 17" id="17"/>
            <p:cNvSpPr/>
            <p:nvPr/>
          </p:nvSpPr>
          <p:spPr>
            <a:xfrm flipH="false" flipV="false" rot="0">
              <a:off x="0" y="0"/>
              <a:ext cx="3681095" cy="15875"/>
            </a:xfrm>
            <a:custGeom>
              <a:avLst/>
              <a:gdLst/>
              <a:ahLst/>
              <a:cxnLst/>
              <a:rect r="r" b="b" t="t" l="l"/>
              <a:pathLst>
                <a:path h="15875" w="3681095">
                  <a:moveTo>
                    <a:pt x="0" y="0"/>
                  </a:moveTo>
                  <a:lnTo>
                    <a:pt x="3681095" y="0"/>
                  </a:lnTo>
                  <a:lnTo>
                    <a:pt x="3681095" y="15875"/>
                  </a:lnTo>
                  <a:lnTo>
                    <a:pt x="0" y="15875"/>
                  </a:lnTo>
                  <a:close/>
                </a:path>
              </a:pathLst>
            </a:custGeom>
            <a:solidFill>
              <a:srgbClr val="006633"/>
            </a:solidFill>
          </p:spPr>
        </p:sp>
      </p:grpSp>
      <p:sp>
        <p:nvSpPr>
          <p:cNvPr name="TextBox 18" id="18"/>
          <p:cNvSpPr txBox="true"/>
          <p:nvPr/>
        </p:nvSpPr>
        <p:spPr>
          <a:xfrm rot="0">
            <a:off x="215436" y="2489244"/>
            <a:ext cx="2064321" cy="180975"/>
          </a:xfrm>
          <a:prstGeom prst="rect">
            <a:avLst/>
          </a:prstGeom>
        </p:spPr>
        <p:txBody>
          <a:bodyPr anchor="t" rtlCol="false" tIns="0" lIns="0" bIns="0" rIns="0">
            <a:spAutoFit/>
          </a:bodyPr>
          <a:lstStyle/>
          <a:p>
            <a:pPr algn="l">
              <a:lnSpc>
                <a:spcPts val="1371"/>
              </a:lnSpc>
            </a:pPr>
            <a:r>
              <a:rPr lang="en-US" sz="1143" b="true">
                <a:solidFill>
                  <a:srgbClr val="003399"/>
                </a:solidFill>
                <a:latin typeface="Times New Roman Bold"/>
                <a:ea typeface="Times New Roman Bold"/>
                <a:cs typeface="Times New Roman Bold"/>
                <a:sym typeface="Times New Roman Bold"/>
              </a:rPr>
              <a:t>Research question &amp; verified gap</a:t>
            </a:r>
          </a:p>
        </p:txBody>
      </p:sp>
      <p:sp>
        <p:nvSpPr>
          <p:cNvPr name="TextBox 19" id="19"/>
          <p:cNvSpPr txBox="true"/>
          <p:nvPr/>
        </p:nvSpPr>
        <p:spPr>
          <a:xfrm rot="0">
            <a:off x="215436" y="2670219"/>
            <a:ext cx="3235586" cy="515620"/>
          </a:xfrm>
          <a:prstGeom prst="rect">
            <a:avLst/>
          </a:prstGeom>
        </p:spPr>
        <p:txBody>
          <a:bodyPr anchor="t" rtlCol="false" tIns="0" lIns="0" bIns="0" rIns="0">
            <a:spAutoFit/>
          </a:bodyPr>
          <a:lstStyle/>
          <a:p>
            <a:pPr algn="l">
              <a:lnSpc>
                <a:spcPts val="1039"/>
              </a:lnSpc>
            </a:pPr>
            <a:r>
              <a:rPr lang="en-US" sz="999" b="true">
                <a:solidFill>
                  <a:srgbClr val="212A33"/>
                </a:solidFill>
                <a:latin typeface="Times New Roman Bold"/>
                <a:ea typeface="Times New Roman Bold"/>
                <a:cs typeface="Times New Roman Bold"/>
                <a:sym typeface="Times New Roman Bold"/>
              </a:rPr>
              <a:t>Can one verified high-risk reserve improve scarce AI research allocation relative to a pure first-price auction(FPA)?</a:t>
            </a:r>
          </a:p>
          <a:p>
            <a:pPr algn="l">
              <a:lnSpc>
                <a:spcPts val="1039"/>
              </a:lnSpc>
            </a:pPr>
          </a:p>
        </p:txBody>
      </p:sp>
      <p:sp>
        <p:nvSpPr>
          <p:cNvPr name="TextBox 20" id="20"/>
          <p:cNvSpPr txBox="true"/>
          <p:nvPr/>
        </p:nvSpPr>
        <p:spPr>
          <a:xfrm rot="0">
            <a:off x="224470" y="3531419"/>
            <a:ext cx="1894210" cy="180975"/>
          </a:xfrm>
          <a:prstGeom prst="rect">
            <a:avLst/>
          </a:prstGeom>
        </p:spPr>
        <p:txBody>
          <a:bodyPr anchor="t" rtlCol="false" tIns="0" lIns="0" bIns="0" rIns="0">
            <a:spAutoFit/>
          </a:bodyPr>
          <a:lstStyle/>
          <a:p>
            <a:pPr algn="l">
              <a:lnSpc>
                <a:spcPts val="1367"/>
              </a:lnSpc>
            </a:pPr>
            <a:r>
              <a:rPr lang="en-US" sz="1139" b="true">
                <a:solidFill>
                  <a:srgbClr val="003399"/>
                </a:solidFill>
                <a:latin typeface="Times New Roman Bold"/>
                <a:ea typeface="Times New Roman Bold"/>
                <a:cs typeface="Times New Roman Bold"/>
                <a:sym typeface="Times New Roman Bold"/>
              </a:rPr>
              <a:t>Strategic model &amp; foundations</a:t>
            </a:r>
          </a:p>
        </p:txBody>
      </p:sp>
      <p:sp>
        <p:nvSpPr>
          <p:cNvPr name="TextBox 21" id="21"/>
          <p:cNvSpPr txBox="true"/>
          <p:nvPr/>
        </p:nvSpPr>
        <p:spPr>
          <a:xfrm rot="0">
            <a:off x="289583" y="3689394"/>
            <a:ext cx="2760812" cy="295275"/>
          </a:xfrm>
          <a:prstGeom prst="rect">
            <a:avLst/>
          </a:prstGeom>
        </p:spPr>
        <p:txBody>
          <a:bodyPr anchor="t" rtlCol="false" tIns="0" lIns="0" bIns="0" rIns="0">
            <a:spAutoFit/>
          </a:bodyPr>
          <a:lstStyle/>
          <a:p>
            <a:pPr algn="l" marL="215899" indent="-107950" lvl="1">
              <a:lnSpc>
                <a:spcPts val="1199"/>
              </a:lnSpc>
              <a:buFont typeface="Arial"/>
              <a:buChar char="•"/>
            </a:pPr>
            <a:r>
              <a:rPr lang="en-US" b="true" sz="999">
                <a:solidFill>
                  <a:srgbClr val="212A33"/>
                </a:solidFill>
                <a:latin typeface="Times New Roman Bold"/>
                <a:ea typeface="Times New Roman Bold"/>
                <a:cs typeface="Times New Roman Bold"/>
                <a:sym typeface="Times New Roman Bold"/>
              </a:rPr>
              <a:t>20 PMs compete for 4 slots</a:t>
            </a:r>
            <a:r>
              <a:rPr lang="en-US" sz="999">
                <a:solidFill>
                  <a:srgbClr val="212A33"/>
                </a:solidFill>
                <a:latin typeface="Times New Roman"/>
                <a:ea typeface="Times New Roman"/>
                <a:cs typeface="Times New Roman"/>
                <a:sym typeface="Times New Roman"/>
              </a:rPr>
              <a:t>; at most one per PM. Private value v ∈ [0,100]; budget = 100 credits.</a:t>
            </a:r>
          </a:p>
        </p:txBody>
      </p:sp>
      <p:sp>
        <p:nvSpPr>
          <p:cNvPr name="TextBox 22" id="22"/>
          <p:cNvSpPr txBox="true"/>
          <p:nvPr/>
        </p:nvSpPr>
        <p:spPr>
          <a:xfrm rot="0">
            <a:off x="220999" y="5065147"/>
            <a:ext cx="1773808" cy="180975"/>
          </a:xfrm>
          <a:prstGeom prst="rect">
            <a:avLst/>
          </a:prstGeom>
        </p:spPr>
        <p:txBody>
          <a:bodyPr anchor="t" rtlCol="false" tIns="0" lIns="0" bIns="0" rIns="0">
            <a:spAutoFit/>
          </a:bodyPr>
          <a:lstStyle/>
          <a:p>
            <a:pPr algn="l">
              <a:lnSpc>
                <a:spcPts val="1371"/>
              </a:lnSpc>
            </a:pPr>
            <a:r>
              <a:rPr lang="en-US" sz="1143" b="true">
                <a:solidFill>
                  <a:srgbClr val="003399"/>
                </a:solidFill>
                <a:latin typeface="Times New Roman Bold"/>
                <a:ea typeface="Times New Roman Bold"/>
                <a:cs typeface="Times New Roman Bold"/>
                <a:sym typeface="Times New Roman Bold"/>
              </a:rPr>
              <a:t>Three complementary lenses</a:t>
            </a:r>
          </a:p>
        </p:txBody>
      </p:sp>
      <p:sp>
        <p:nvSpPr>
          <p:cNvPr name="TextBox 23" id="23"/>
          <p:cNvSpPr txBox="true"/>
          <p:nvPr/>
        </p:nvSpPr>
        <p:spPr>
          <a:xfrm rot="0">
            <a:off x="300775" y="5237513"/>
            <a:ext cx="2760812" cy="438150"/>
          </a:xfrm>
          <a:prstGeom prst="rect">
            <a:avLst/>
          </a:prstGeom>
        </p:spPr>
        <p:txBody>
          <a:bodyPr anchor="t" rtlCol="false" tIns="0" lIns="0" bIns="0" rIns="0">
            <a:spAutoFit/>
          </a:bodyPr>
          <a:lstStyle/>
          <a:p>
            <a:pPr algn="l" marL="215899" indent="-107950" lvl="1">
              <a:lnSpc>
                <a:spcPts val="1199"/>
              </a:lnSpc>
              <a:buFont typeface="Arial"/>
              <a:buChar char="•"/>
            </a:pPr>
            <a:r>
              <a:rPr lang="en-US" b="true" sz="999">
                <a:solidFill>
                  <a:srgbClr val="212A33"/>
                </a:solidFill>
                <a:latin typeface="Times New Roman Bold"/>
                <a:ea typeface="Times New Roman Bold"/>
                <a:cs typeface="Times New Roman Bold"/>
                <a:sym typeface="Times New Roman Bold"/>
              </a:rPr>
              <a:t>Game theory</a:t>
            </a:r>
            <a:r>
              <a:rPr lang="en-US" sz="999">
                <a:solidFill>
                  <a:srgbClr val="212A33"/>
                </a:solidFill>
                <a:latin typeface="Times New Roman"/>
                <a:ea typeface="Times New Roman"/>
                <a:cs typeface="Times New Roman"/>
                <a:sym typeface="Times New Roman"/>
              </a:rPr>
              <a:t>: Private values and incomplete information generate strategic bid shading. </a:t>
            </a:r>
          </a:p>
          <a:p>
            <a:pPr algn="l">
              <a:lnSpc>
                <a:spcPts val="1199"/>
              </a:lnSpc>
            </a:pPr>
          </a:p>
        </p:txBody>
      </p:sp>
      <p:sp>
        <p:nvSpPr>
          <p:cNvPr name="TextBox 24" id="24"/>
          <p:cNvSpPr txBox="true"/>
          <p:nvPr/>
        </p:nvSpPr>
        <p:spPr>
          <a:xfrm rot="0">
            <a:off x="220999" y="6237638"/>
            <a:ext cx="1733699" cy="180975"/>
          </a:xfrm>
          <a:prstGeom prst="rect">
            <a:avLst/>
          </a:prstGeom>
        </p:spPr>
        <p:txBody>
          <a:bodyPr anchor="t" rtlCol="false" tIns="0" lIns="0" bIns="0" rIns="0">
            <a:spAutoFit/>
          </a:bodyPr>
          <a:lstStyle/>
          <a:p>
            <a:pPr algn="l">
              <a:lnSpc>
                <a:spcPts val="1371"/>
              </a:lnSpc>
            </a:pPr>
            <a:r>
              <a:rPr lang="en-US" sz="1143" b="true">
                <a:solidFill>
                  <a:srgbClr val="003399"/>
                </a:solidFill>
                <a:latin typeface="Times New Roman Bold"/>
                <a:ea typeface="Times New Roman Bold"/>
                <a:cs typeface="Times New Roman Bold"/>
                <a:sym typeface="Times New Roman Bold"/>
              </a:rPr>
              <a:t>when does the reserve help?</a:t>
            </a:r>
          </a:p>
        </p:txBody>
      </p:sp>
      <p:sp>
        <p:nvSpPr>
          <p:cNvPr name="TextBox 25" id="25"/>
          <p:cNvSpPr txBox="true"/>
          <p:nvPr/>
        </p:nvSpPr>
        <p:spPr>
          <a:xfrm rot="0">
            <a:off x="244973" y="6425217"/>
            <a:ext cx="2931378" cy="476250"/>
          </a:xfrm>
          <a:prstGeom prst="rect">
            <a:avLst/>
          </a:prstGeom>
        </p:spPr>
        <p:txBody>
          <a:bodyPr anchor="t" rtlCol="false" tIns="0" lIns="0" bIns="0" rIns="0">
            <a:spAutoFit/>
          </a:bodyPr>
          <a:lstStyle/>
          <a:p>
            <a:pPr algn="just">
              <a:lnSpc>
                <a:spcPts val="1200"/>
              </a:lnSpc>
            </a:pPr>
            <a:r>
              <a:rPr lang="en-US" sz="1000">
                <a:solidFill>
                  <a:srgbClr val="212A33"/>
                </a:solidFill>
                <a:latin typeface="Times New Roman"/>
                <a:ea typeface="Times New Roman"/>
                <a:cs typeface="Times New Roman"/>
                <a:sym typeface="Times New Roman"/>
              </a:rPr>
              <a:t>ΔC = C(H) − C(P);  L = V(P) − V(H)</a:t>
            </a:r>
          </a:p>
          <a:p>
            <a:pPr algn="just">
              <a:lnSpc>
                <a:spcPts val="1200"/>
              </a:lnSpc>
            </a:pPr>
            <a:r>
              <a:rPr lang="en-US" sz="1000">
                <a:solidFill>
                  <a:srgbClr val="212A33"/>
                </a:solidFill>
                <a:latin typeface="Times New Roman"/>
                <a:ea typeface="Times New Roman"/>
                <a:cs typeface="Times New Roman"/>
                <a:sym typeface="Times New Roman"/>
              </a:rPr>
              <a:t>W(H) &gt; W(P) ⇔ λΔC &gt; L</a:t>
            </a:r>
          </a:p>
          <a:p>
            <a:pPr algn="just">
              <a:lnSpc>
                <a:spcPts val="1200"/>
              </a:lnSpc>
            </a:pPr>
          </a:p>
        </p:txBody>
      </p:sp>
      <p:sp>
        <p:nvSpPr>
          <p:cNvPr name="TextBox 26" id="26"/>
          <p:cNvSpPr txBox="true"/>
          <p:nvPr/>
        </p:nvSpPr>
        <p:spPr>
          <a:xfrm rot="0">
            <a:off x="3423456" y="2229698"/>
            <a:ext cx="1713533" cy="219075"/>
          </a:xfrm>
          <a:prstGeom prst="rect">
            <a:avLst/>
          </a:prstGeom>
        </p:spPr>
        <p:txBody>
          <a:bodyPr anchor="t" rtlCol="false" tIns="0" lIns="0" bIns="0" rIns="0">
            <a:spAutoFit/>
          </a:bodyPr>
          <a:lstStyle/>
          <a:p>
            <a:pPr algn="l">
              <a:lnSpc>
                <a:spcPts val="1680"/>
              </a:lnSpc>
            </a:pPr>
            <a:r>
              <a:rPr lang="en-US" sz="1400" b="true">
                <a:solidFill>
                  <a:srgbClr val="003399"/>
                </a:solidFill>
                <a:latin typeface="Times New Roman Bold"/>
                <a:ea typeface="Times New Roman Bold"/>
                <a:cs typeface="Times New Roman Bold"/>
                <a:sym typeface="Times New Roman Bold"/>
              </a:rPr>
              <a:t>02   Design &amp; evidence</a:t>
            </a:r>
          </a:p>
        </p:txBody>
      </p:sp>
      <p:grpSp>
        <p:nvGrpSpPr>
          <p:cNvPr name="Group 27" id="27"/>
          <p:cNvGrpSpPr/>
          <p:nvPr/>
        </p:nvGrpSpPr>
        <p:grpSpPr>
          <a:xfrm rot="0">
            <a:off x="3326455" y="2460669"/>
            <a:ext cx="4031409" cy="11897"/>
            <a:chOff x="0" y="0"/>
            <a:chExt cx="5375212" cy="15862"/>
          </a:xfrm>
        </p:grpSpPr>
        <p:sp>
          <p:nvSpPr>
            <p:cNvPr name="Freeform 28" id="28"/>
            <p:cNvSpPr/>
            <p:nvPr/>
          </p:nvSpPr>
          <p:spPr>
            <a:xfrm flipH="false" flipV="false" rot="0">
              <a:off x="0" y="0"/>
              <a:ext cx="5375148" cy="15875"/>
            </a:xfrm>
            <a:custGeom>
              <a:avLst/>
              <a:gdLst/>
              <a:ahLst/>
              <a:cxnLst/>
              <a:rect r="r" b="b" t="t" l="l"/>
              <a:pathLst>
                <a:path h="15875" w="5375148">
                  <a:moveTo>
                    <a:pt x="0" y="0"/>
                  </a:moveTo>
                  <a:lnTo>
                    <a:pt x="5375148" y="0"/>
                  </a:lnTo>
                  <a:lnTo>
                    <a:pt x="5375148" y="15875"/>
                  </a:lnTo>
                  <a:lnTo>
                    <a:pt x="0" y="15875"/>
                  </a:lnTo>
                  <a:close/>
                </a:path>
              </a:pathLst>
            </a:custGeom>
            <a:solidFill>
              <a:srgbClr val="006633"/>
            </a:solidFill>
          </p:spPr>
        </p:sp>
      </p:grpSp>
      <p:grpSp>
        <p:nvGrpSpPr>
          <p:cNvPr name="Group 29" id="29"/>
          <p:cNvGrpSpPr/>
          <p:nvPr/>
        </p:nvGrpSpPr>
        <p:grpSpPr>
          <a:xfrm rot="0">
            <a:off x="3312074" y="2530507"/>
            <a:ext cx="4053722" cy="1422692"/>
            <a:chOff x="0" y="0"/>
            <a:chExt cx="5404963" cy="1896923"/>
          </a:xfrm>
        </p:grpSpPr>
        <p:sp>
          <p:nvSpPr>
            <p:cNvPr name="Freeform 30" id="30"/>
            <p:cNvSpPr/>
            <p:nvPr/>
          </p:nvSpPr>
          <p:spPr>
            <a:xfrm flipH="false" flipV="false" rot="0">
              <a:off x="0" y="0"/>
              <a:ext cx="5404912" cy="1896974"/>
            </a:xfrm>
            <a:custGeom>
              <a:avLst/>
              <a:gdLst/>
              <a:ahLst/>
              <a:cxnLst/>
              <a:rect r="r" b="b" t="t" l="l"/>
              <a:pathLst>
                <a:path h="1896974" w="5404912">
                  <a:moveTo>
                    <a:pt x="0" y="0"/>
                  </a:moveTo>
                  <a:lnTo>
                    <a:pt x="5404912" y="0"/>
                  </a:lnTo>
                  <a:lnTo>
                    <a:pt x="5404912" y="1896974"/>
                  </a:lnTo>
                  <a:lnTo>
                    <a:pt x="0" y="1896974"/>
                  </a:lnTo>
                  <a:close/>
                </a:path>
              </a:pathLst>
            </a:custGeom>
            <a:solidFill>
              <a:srgbClr val="F4F6F7"/>
            </a:solidFill>
            <a:ln w="4760" cap="sq">
              <a:solidFill>
                <a:srgbClr val="CFD5D9"/>
              </a:solidFill>
              <a:prstDash val="solid"/>
              <a:miter/>
            </a:ln>
          </p:spPr>
        </p:sp>
      </p:grpSp>
      <p:sp>
        <p:nvSpPr>
          <p:cNvPr name="TextBox 31" id="31"/>
          <p:cNvSpPr txBox="true"/>
          <p:nvPr/>
        </p:nvSpPr>
        <p:spPr>
          <a:xfrm rot="0">
            <a:off x="3423456" y="2537041"/>
            <a:ext cx="3784225" cy="180975"/>
          </a:xfrm>
          <a:prstGeom prst="rect">
            <a:avLst/>
          </a:prstGeom>
        </p:spPr>
        <p:txBody>
          <a:bodyPr anchor="t" rtlCol="false" tIns="0" lIns="0" bIns="0" rIns="0">
            <a:spAutoFit/>
          </a:bodyPr>
          <a:lstStyle/>
          <a:p>
            <a:pPr algn="ctr">
              <a:lnSpc>
                <a:spcPts val="1320"/>
              </a:lnSpc>
            </a:pPr>
            <a:r>
              <a:rPr lang="en-US" sz="1100" b="true">
                <a:solidFill>
                  <a:srgbClr val="212A33"/>
                </a:solidFill>
                <a:latin typeface="Times New Roman Bold"/>
                <a:ea typeface="Times New Roman Bold"/>
                <a:cs typeface="Times New Roman Bold"/>
                <a:sym typeface="Times New Roman Bold"/>
              </a:rPr>
              <a:t>MATCHED REQUESTS, THREE RULES</a:t>
            </a:r>
          </a:p>
        </p:txBody>
      </p:sp>
      <p:sp>
        <p:nvSpPr>
          <p:cNvPr name="TextBox 32" id="32"/>
          <p:cNvSpPr txBox="true"/>
          <p:nvPr/>
        </p:nvSpPr>
        <p:spPr>
          <a:xfrm rot="0">
            <a:off x="3451022" y="2751817"/>
            <a:ext cx="3784225" cy="152400"/>
          </a:xfrm>
          <a:prstGeom prst="rect">
            <a:avLst/>
          </a:prstGeom>
        </p:spPr>
        <p:txBody>
          <a:bodyPr anchor="t" rtlCol="false" tIns="0" lIns="0" bIns="0" rIns="0">
            <a:spAutoFit/>
          </a:bodyPr>
          <a:lstStyle/>
          <a:p>
            <a:pPr algn="ctr">
              <a:lnSpc>
                <a:spcPts val="1199"/>
              </a:lnSpc>
            </a:pPr>
            <a:r>
              <a:rPr lang="en-US" sz="999" b="true">
                <a:solidFill>
                  <a:srgbClr val="212A33"/>
                </a:solidFill>
                <a:latin typeface="Times New Roman Bold"/>
                <a:ea typeface="Times New Roman Bold"/>
                <a:cs typeface="Times New Roman Bold"/>
                <a:sym typeface="Times New Roman Bold"/>
              </a:rPr>
              <a:t>20 PMs  →  same values, risk scores and bids</a:t>
            </a:r>
          </a:p>
        </p:txBody>
      </p:sp>
      <p:sp>
        <p:nvSpPr>
          <p:cNvPr name="TextBox 33" id="33"/>
          <p:cNvSpPr txBox="true"/>
          <p:nvPr/>
        </p:nvSpPr>
        <p:spPr>
          <a:xfrm rot="0">
            <a:off x="3332016" y="3981774"/>
            <a:ext cx="4031409" cy="223520"/>
          </a:xfrm>
          <a:prstGeom prst="rect">
            <a:avLst/>
          </a:prstGeom>
        </p:spPr>
        <p:txBody>
          <a:bodyPr anchor="t" rtlCol="false" tIns="0" lIns="0" bIns="0" rIns="0">
            <a:spAutoFit/>
          </a:bodyPr>
          <a:lstStyle/>
          <a:p>
            <a:pPr algn="l">
              <a:lnSpc>
                <a:spcPts val="800"/>
              </a:lnSpc>
            </a:pPr>
            <a:r>
              <a:rPr lang="en-US" sz="800">
                <a:solidFill>
                  <a:srgbClr val="212A33"/>
                </a:solidFill>
                <a:latin typeface="Times New Roman"/>
                <a:ea typeface="Times New Roman"/>
                <a:cs typeface="Times New Roman"/>
                <a:sym typeface="Times New Roman"/>
              </a:rPr>
              <a:t>1,000 independent batches; seed 20260926. Fixed b = 0.8v in both auctions (an assumed rule, not an equilibrium). If no r ≥ 60, auction all 4 slots.</a:t>
            </a:r>
          </a:p>
        </p:txBody>
      </p:sp>
      <p:grpSp>
        <p:nvGrpSpPr>
          <p:cNvPr name="Group 34" id="34"/>
          <p:cNvGrpSpPr/>
          <p:nvPr/>
        </p:nvGrpSpPr>
        <p:grpSpPr>
          <a:xfrm rot="0">
            <a:off x="3329635" y="4252919"/>
            <a:ext cx="4036171" cy="1422744"/>
            <a:chOff x="0" y="0"/>
            <a:chExt cx="5381562" cy="1896992"/>
          </a:xfrm>
        </p:grpSpPr>
        <p:sp>
          <p:nvSpPr>
            <p:cNvPr name="Freeform 35" id="35"/>
            <p:cNvSpPr/>
            <p:nvPr/>
          </p:nvSpPr>
          <p:spPr>
            <a:xfrm flipH="false" flipV="false" rot="0">
              <a:off x="0" y="0"/>
              <a:ext cx="5381498" cy="1896939"/>
            </a:xfrm>
            <a:custGeom>
              <a:avLst/>
              <a:gdLst/>
              <a:ahLst/>
              <a:cxnLst/>
              <a:rect r="r" b="b" t="t" l="l"/>
              <a:pathLst>
                <a:path h="1896939" w="5381498">
                  <a:moveTo>
                    <a:pt x="0" y="0"/>
                  </a:moveTo>
                  <a:lnTo>
                    <a:pt x="5381498" y="0"/>
                  </a:lnTo>
                  <a:lnTo>
                    <a:pt x="5381498" y="1896939"/>
                  </a:lnTo>
                  <a:lnTo>
                    <a:pt x="0" y="1896939"/>
                  </a:lnTo>
                  <a:close/>
                </a:path>
              </a:pathLst>
            </a:custGeom>
            <a:solidFill>
              <a:srgbClr val="F4F6F7"/>
            </a:solidFill>
            <a:ln w="4760" cap="sq">
              <a:solidFill>
                <a:srgbClr val="CFD5D9"/>
              </a:solidFill>
              <a:prstDash val="solid"/>
              <a:miter/>
            </a:ln>
          </p:spPr>
        </p:sp>
      </p:grpSp>
      <p:sp>
        <p:nvSpPr>
          <p:cNvPr name="TextBox 36" id="36"/>
          <p:cNvSpPr txBox="true"/>
          <p:nvPr/>
        </p:nvSpPr>
        <p:spPr>
          <a:xfrm rot="0">
            <a:off x="3334388" y="6426275"/>
            <a:ext cx="4366411" cy="483658"/>
          </a:xfrm>
          <a:prstGeom prst="rect">
            <a:avLst/>
          </a:prstGeom>
        </p:spPr>
        <p:txBody>
          <a:bodyPr anchor="t" rtlCol="false" tIns="0" lIns="0" bIns="0" rIns="0">
            <a:spAutoFit/>
          </a:bodyPr>
          <a:lstStyle/>
          <a:p>
            <a:pPr algn="l">
              <a:lnSpc>
                <a:spcPts val="959"/>
              </a:lnSpc>
            </a:pPr>
            <a:r>
              <a:rPr lang="en-US" sz="799" b="true">
                <a:solidFill>
                  <a:srgbClr val="212A33"/>
                </a:solidFill>
                <a:latin typeface="Times New Roman Bold"/>
                <a:ea typeface="Times New Roman Bold"/>
                <a:cs typeface="Times New Roman Bold"/>
                <a:sym typeface="Times New Roman Bold"/>
              </a:rPr>
              <a:t>HYBRID VS. PURE FPA</a:t>
            </a:r>
          </a:p>
          <a:p>
            <a:pPr algn="l">
              <a:lnSpc>
                <a:spcPts val="959"/>
              </a:lnSpc>
            </a:pPr>
            <a:r>
              <a:rPr lang="en-US" sz="799">
                <a:solidFill>
                  <a:srgbClr val="212A33"/>
                </a:solidFill>
                <a:latin typeface="Times New Roman"/>
                <a:ea typeface="Times New Roman"/>
                <a:cs typeface="Times New Roman"/>
                <a:sym typeface="Times New Roman"/>
              </a:rPr>
              <a:t>ΔC = +36.59 risk coverage; L = 26.82 displaced private value</a:t>
            </a:r>
          </a:p>
          <a:p>
            <a:pPr algn="l">
              <a:lnSpc>
                <a:spcPts val="959"/>
              </a:lnSpc>
            </a:pPr>
            <a:r>
              <a:rPr lang="en-US" sz="799">
                <a:solidFill>
                  <a:srgbClr val="212A33"/>
                </a:solidFill>
                <a:latin typeface="Times New Roman"/>
                <a:ea typeface="Times New Roman"/>
                <a:cs typeface="Times New Roman"/>
                <a:sym typeface="Times New Roman"/>
              </a:rPr>
              <a:t>Mean </a:t>
            </a:r>
            <a:r>
              <a:rPr lang="en-US" sz="799">
                <a:solidFill>
                  <a:srgbClr val="212A33"/>
                </a:solidFill>
                <a:latin typeface="Times New Roman"/>
                <a:ea typeface="Times New Roman"/>
                <a:cs typeface="Times New Roman"/>
                <a:sym typeface="Times New Roman"/>
              </a:rPr>
              <a:t>ΔW = +9.78 at λ = 1; MCSE = 0.89</a:t>
            </a:r>
          </a:p>
          <a:p>
            <a:pPr algn="l">
              <a:lnSpc>
                <a:spcPts val="959"/>
              </a:lnSpc>
            </a:pPr>
            <a:r>
              <a:rPr lang="en-US" sz="799">
                <a:solidFill>
                  <a:srgbClr val="212A33"/>
                </a:solidFill>
                <a:latin typeface="Times New Roman"/>
                <a:ea typeface="Times New Roman"/>
                <a:cs typeface="Times New Roman"/>
                <a:sym typeface="Times New Roman"/>
              </a:rPr>
              <a:t>Only 43.8% of batches have ΔW &gt; 0: The hybrid improves mean welfare, not every allocation.</a:t>
            </a:r>
          </a:p>
        </p:txBody>
      </p:sp>
      <p:sp>
        <p:nvSpPr>
          <p:cNvPr name="TextBox 37" id="37"/>
          <p:cNvSpPr txBox="true"/>
          <p:nvPr/>
        </p:nvSpPr>
        <p:spPr>
          <a:xfrm rot="0">
            <a:off x="7692866" y="2229698"/>
            <a:ext cx="1733476" cy="219075"/>
          </a:xfrm>
          <a:prstGeom prst="rect">
            <a:avLst/>
          </a:prstGeom>
        </p:spPr>
        <p:txBody>
          <a:bodyPr anchor="t" rtlCol="false" tIns="0" lIns="0" bIns="0" rIns="0">
            <a:spAutoFit/>
          </a:bodyPr>
          <a:lstStyle/>
          <a:p>
            <a:pPr algn="l">
              <a:lnSpc>
                <a:spcPts val="1680"/>
              </a:lnSpc>
            </a:pPr>
            <a:r>
              <a:rPr lang="en-US" sz="1400" b="true">
                <a:solidFill>
                  <a:srgbClr val="003399"/>
                </a:solidFill>
                <a:latin typeface="Times New Roman Bold"/>
                <a:ea typeface="Times New Roman Bold"/>
                <a:cs typeface="Times New Roman Bold"/>
                <a:sym typeface="Times New Roman Bold"/>
              </a:rPr>
              <a:t>03   Impact &amp; dialogue</a:t>
            </a:r>
          </a:p>
        </p:txBody>
      </p:sp>
      <p:grpSp>
        <p:nvGrpSpPr>
          <p:cNvPr name="Group 38" id="38"/>
          <p:cNvGrpSpPr/>
          <p:nvPr/>
        </p:nvGrpSpPr>
        <p:grpSpPr>
          <a:xfrm rot="0">
            <a:off x="7596845" y="2442824"/>
            <a:ext cx="2760812" cy="11897"/>
            <a:chOff x="0" y="0"/>
            <a:chExt cx="3681082" cy="15862"/>
          </a:xfrm>
        </p:grpSpPr>
        <p:sp>
          <p:nvSpPr>
            <p:cNvPr name="Freeform 39" id="39"/>
            <p:cNvSpPr/>
            <p:nvPr/>
          </p:nvSpPr>
          <p:spPr>
            <a:xfrm flipH="false" flipV="false" rot="0">
              <a:off x="0" y="0"/>
              <a:ext cx="3681095" cy="15875"/>
            </a:xfrm>
            <a:custGeom>
              <a:avLst/>
              <a:gdLst/>
              <a:ahLst/>
              <a:cxnLst/>
              <a:rect r="r" b="b" t="t" l="l"/>
              <a:pathLst>
                <a:path h="15875" w="3681095">
                  <a:moveTo>
                    <a:pt x="0" y="0"/>
                  </a:moveTo>
                  <a:lnTo>
                    <a:pt x="3681095" y="0"/>
                  </a:lnTo>
                  <a:lnTo>
                    <a:pt x="3681095" y="15875"/>
                  </a:lnTo>
                  <a:lnTo>
                    <a:pt x="0" y="15875"/>
                  </a:lnTo>
                  <a:close/>
                </a:path>
              </a:pathLst>
            </a:custGeom>
            <a:solidFill>
              <a:srgbClr val="006633"/>
            </a:solidFill>
          </p:spPr>
        </p:sp>
      </p:grpSp>
      <p:sp>
        <p:nvSpPr>
          <p:cNvPr name="TextBox 40" id="40"/>
          <p:cNvSpPr txBox="true"/>
          <p:nvPr/>
        </p:nvSpPr>
        <p:spPr>
          <a:xfrm rot="0">
            <a:off x="7601426" y="2520982"/>
            <a:ext cx="2154808" cy="180975"/>
          </a:xfrm>
          <a:prstGeom prst="rect">
            <a:avLst/>
          </a:prstGeom>
        </p:spPr>
        <p:txBody>
          <a:bodyPr anchor="t" rtlCol="false" tIns="0" lIns="0" bIns="0" rIns="0">
            <a:spAutoFit/>
          </a:bodyPr>
          <a:lstStyle/>
          <a:p>
            <a:pPr algn="l">
              <a:lnSpc>
                <a:spcPts val="1367"/>
              </a:lnSpc>
            </a:pPr>
            <a:r>
              <a:rPr lang="en-US" sz="1139" b="true">
                <a:solidFill>
                  <a:srgbClr val="003399"/>
                </a:solidFill>
                <a:latin typeface="Times New Roman Bold"/>
                <a:ea typeface="Times New Roman Bold"/>
                <a:cs typeface="Times New Roman Bold"/>
                <a:sym typeface="Times New Roman Bold"/>
              </a:rPr>
              <a:t>Practical impact: a real-world case</a:t>
            </a:r>
          </a:p>
        </p:txBody>
      </p:sp>
      <p:sp>
        <p:nvSpPr>
          <p:cNvPr name="TextBox 41" id="41"/>
          <p:cNvSpPr txBox="true"/>
          <p:nvPr/>
        </p:nvSpPr>
        <p:spPr>
          <a:xfrm rot="0">
            <a:off x="7596845" y="2702947"/>
            <a:ext cx="2987462" cy="866775"/>
          </a:xfrm>
          <a:prstGeom prst="rect">
            <a:avLst/>
          </a:prstGeom>
        </p:spPr>
        <p:txBody>
          <a:bodyPr anchor="t" rtlCol="false" tIns="0" lIns="0" bIns="0" rIns="0">
            <a:spAutoFit/>
          </a:bodyPr>
          <a:lstStyle/>
          <a:p>
            <a:pPr algn="l" marL="215899" indent="-107950" lvl="1">
              <a:lnSpc>
                <a:spcPts val="1199"/>
              </a:lnSpc>
              <a:buFont typeface="Arial"/>
              <a:buChar char="•"/>
            </a:pPr>
            <a:r>
              <a:rPr lang="en-US" sz="999">
                <a:solidFill>
                  <a:srgbClr val="212A33"/>
                </a:solidFill>
                <a:latin typeface="Times New Roman"/>
                <a:ea typeface="Times New Roman"/>
                <a:cs typeface="Times New Roman"/>
                <a:sym typeface="Times New Roman"/>
              </a:rPr>
              <a:t>T. Rowe Price’s Claude rollout to PMs and analysts motivates the setting. </a:t>
            </a:r>
          </a:p>
          <a:p>
            <a:pPr algn="l" marL="215899" indent="-107950" lvl="1">
              <a:lnSpc>
                <a:spcPts val="1199"/>
              </a:lnSpc>
              <a:buFont typeface="Arial"/>
              <a:buChar char="•"/>
            </a:pPr>
            <a:r>
              <a:rPr lang="en-US" sz="999">
                <a:solidFill>
                  <a:srgbClr val="212A33"/>
                </a:solidFill>
                <a:latin typeface="Times New Roman"/>
                <a:ea typeface="Times New Roman"/>
                <a:cs typeface="Times New Roman"/>
                <a:sym typeface="Times New Roman"/>
              </a:rPr>
              <a:t>The 20-PM / 4-slot constraint is our research assumption, not a reported firm policy.</a:t>
            </a:r>
          </a:p>
          <a:p>
            <a:pPr algn="l" marL="215899" indent="-107950" lvl="1">
              <a:lnSpc>
                <a:spcPts val="1199"/>
              </a:lnSpc>
              <a:buFont typeface="Arial"/>
              <a:buChar char="•"/>
            </a:pPr>
            <a:r>
              <a:rPr lang="en-US" sz="999">
                <a:solidFill>
                  <a:srgbClr val="212A33"/>
                </a:solidFill>
                <a:latin typeface="Times New Roman"/>
                <a:ea typeface="Times New Roman"/>
                <a:cs typeface="Times New Roman"/>
                <a:sym typeface="Times New Roman"/>
              </a:rPr>
              <a:t>Risk coverage may support accountable allocation (SDG 16.6); it is not measured avoided loss.</a:t>
            </a:r>
          </a:p>
        </p:txBody>
      </p:sp>
      <p:sp>
        <p:nvSpPr>
          <p:cNvPr name="TextBox 42" id="42"/>
          <p:cNvSpPr txBox="true"/>
          <p:nvPr/>
        </p:nvSpPr>
        <p:spPr>
          <a:xfrm rot="0">
            <a:off x="7603931" y="3599025"/>
            <a:ext cx="1644923" cy="180975"/>
          </a:xfrm>
          <a:prstGeom prst="rect">
            <a:avLst/>
          </a:prstGeom>
        </p:spPr>
        <p:txBody>
          <a:bodyPr anchor="t" rtlCol="false" tIns="0" lIns="0" bIns="0" rIns="0">
            <a:spAutoFit/>
          </a:bodyPr>
          <a:lstStyle/>
          <a:p>
            <a:pPr algn="l">
              <a:lnSpc>
                <a:spcPts val="1367"/>
              </a:lnSpc>
            </a:pPr>
            <a:r>
              <a:rPr lang="en-US" sz="1139" b="true">
                <a:solidFill>
                  <a:srgbClr val="003399"/>
                </a:solidFill>
                <a:latin typeface="Times New Roman Bold"/>
                <a:ea typeface="Times New Roman Bold"/>
                <a:cs typeface="Times New Roman Bold"/>
                <a:sym typeface="Times New Roman Bold"/>
              </a:rPr>
              <a:t>Interdisciplinary Evidence</a:t>
            </a:r>
          </a:p>
        </p:txBody>
      </p:sp>
      <p:sp>
        <p:nvSpPr>
          <p:cNvPr name="TextBox 43" id="43"/>
          <p:cNvSpPr txBox="true"/>
          <p:nvPr/>
        </p:nvSpPr>
        <p:spPr>
          <a:xfrm rot="0">
            <a:off x="7596845" y="3794169"/>
            <a:ext cx="2912868" cy="1295400"/>
          </a:xfrm>
          <a:prstGeom prst="rect">
            <a:avLst/>
          </a:prstGeom>
        </p:spPr>
        <p:txBody>
          <a:bodyPr anchor="t" rtlCol="false" tIns="0" lIns="0" bIns="0" rIns="0">
            <a:spAutoFit/>
          </a:bodyPr>
          <a:lstStyle/>
          <a:p>
            <a:pPr algn="l" marL="215899" indent="-107950" lvl="1">
              <a:lnSpc>
                <a:spcPts val="1199"/>
              </a:lnSpc>
              <a:buFont typeface="Arial"/>
              <a:buChar char="•"/>
            </a:pPr>
            <a:r>
              <a:rPr lang="en-US" b="true" sz="999">
                <a:solidFill>
                  <a:srgbClr val="212A33"/>
                </a:solidFill>
                <a:latin typeface="Times New Roman Bold"/>
                <a:ea typeface="Times New Roman Bold"/>
                <a:cs typeface="Times New Roman Bold"/>
                <a:sym typeface="Times New Roman Bold"/>
              </a:rPr>
              <a:t>Behavioral test:</a:t>
            </a:r>
            <a:r>
              <a:rPr lang="en-US" sz="999">
                <a:solidFill>
                  <a:srgbClr val="212A33"/>
                </a:solidFill>
                <a:latin typeface="Times New Roman"/>
                <a:ea typeface="Times New Roman"/>
                <a:cs typeface="Times New Roman"/>
                <a:sym typeface="Times New Roman"/>
              </a:rPr>
              <a:t> Four bidders compete for one slot under equivalent gain/loss wording. </a:t>
            </a:r>
          </a:p>
          <a:p>
            <a:pPr algn="l" marL="215899" indent="-107950" lvl="1">
              <a:lnSpc>
                <a:spcPts val="1199"/>
              </a:lnSpc>
              <a:buFont typeface="Arial"/>
              <a:buChar char="•"/>
            </a:pPr>
            <a:r>
              <a:rPr lang="en-US" b="true" sz="999">
                <a:solidFill>
                  <a:srgbClr val="212A33"/>
                </a:solidFill>
                <a:latin typeface="Times New Roman Bold"/>
                <a:ea typeface="Times New Roman Bold"/>
                <a:cs typeface="Times New Roman Bold"/>
                <a:sym typeface="Times New Roman Bold"/>
              </a:rPr>
              <a:t>Rational single-slot benchmark:</a:t>
            </a:r>
            <a:r>
              <a:rPr lang="en-US" sz="999">
                <a:solidFill>
                  <a:srgbClr val="212A33"/>
                </a:solidFill>
                <a:latin typeface="Times New Roman"/>
                <a:ea typeface="Times New Roman"/>
                <a:cs typeface="Times New Roman"/>
                <a:sym typeface="Times New Roman"/>
              </a:rPr>
              <a:t> b(v) = 0.75v</a:t>
            </a:r>
          </a:p>
          <a:p>
            <a:pPr algn="l" marL="215899" indent="-107950" lvl="1">
              <a:lnSpc>
                <a:spcPts val="1199"/>
              </a:lnSpc>
              <a:buFont typeface="Arial"/>
              <a:buChar char="•"/>
            </a:pPr>
            <a:r>
              <a:rPr lang="en-US" b="true" sz="999">
                <a:solidFill>
                  <a:srgbClr val="212A33"/>
                </a:solidFill>
                <a:latin typeface="Times New Roman Bold"/>
                <a:ea typeface="Times New Roman Bold"/>
                <a:cs typeface="Times New Roman Bold"/>
                <a:sym typeface="Times New Roman Bold"/>
              </a:rPr>
              <a:t>Status:</a:t>
            </a:r>
            <a:r>
              <a:rPr lang="en-US" sz="999">
                <a:solidFill>
                  <a:srgbClr val="212A33"/>
                </a:solidFill>
                <a:latin typeface="Times New Roman"/>
                <a:ea typeface="Times New Roman"/>
                <a:cs typeface="Times New Roman"/>
                <a:sym typeface="Times New Roman"/>
              </a:rPr>
              <a:t> No human rounds have yet been completed; peer-play evidence remains planned. </a:t>
            </a:r>
          </a:p>
          <a:p>
            <a:pPr algn="l" marL="215899" indent="-107950" lvl="1">
              <a:lnSpc>
                <a:spcPts val="1199"/>
              </a:lnSpc>
              <a:buFont typeface="Arial"/>
              <a:buChar char="•"/>
            </a:pPr>
            <a:r>
              <a:rPr lang="en-US" b="true" sz="999">
                <a:solidFill>
                  <a:srgbClr val="212A33"/>
                </a:solidFill>
                <a:latin typeface="Times New Roman Bold"/>
                <a:ea typeface="Times New Roman Bold"/>
                <a:cs typeface="Times New Roman Bold"/>
                <a:sym typeface="Times New Roman Bold"/>
              </a:rPr>
              <a:t>Decision rule:</a:t>
            </a:r>
            <a:r>
              <a:rPr lang="en-US" sz="999">
                <a:solidFill>
                  <a:srgbClr val="212A33"/>
                </a:solidFill>
                <a:latin typeface="Times New Roman"/>
                <a:ea typeface="Times New Roman"/>
                <a:cs typeface="Times New Roman"/>
                <a:sym typeface="Times New Roman"/>
              </a:rPr>
              <a:t> If observed bids systematically depart from 0.75v, we test whether importing the observed bid ratio changes the ranking of Pure FPA and Hybrid.</a:t>
            </a:r>
          </a:p>
        </p:txBody>
      </p:sp>
      <p:sp>
        <p:nvSpPr>
          <p:cNvPr name="TextBox 44" id="44"/>
          <p:cNvSpPr txBox="true"/>
          <p:nvPr/>
        </p:nvSpPr>
        <p:spPr>
          <a:xfrm rot="0">
            <a:off x="7596845" y="5099094"/>
            <a:ext cx="1427559" cy="180975"/>
          </a:xfrm>
          <a:prstGeom prst="rect">
            <a:avLst/>
          </a:prstGeom>
        </p:spPr>
        <p:txBody>
          <a:bodyPr anchor="t" rtlCol="false" tIns="0" lIns="0" bIns="0" rIns="0">
            <a:spAutoFit/>
          </a:bodyPr>
          <a:lstStyle/>
          <a:p>
            <a:pPr algn="l">
              <a:lnSpc>
                <a:spcPts val="1367"/>
              </a:lnSpc>
            </a:pPr>
            <a:r>
              <a:rPr lang="en-US" sz="1139" b="true">
                <a:solidFill>
                  <a:srgbClr val="003399"/>
                </a:solidFill>
                <a:latin typeface="Times New Roman Bold"/>
                <a:ea typeface="Times New Roman Bold"/>
                <a:cs typeface="Times New Roman Bold"/>
                <a:sym typeface="Times New Roman Bold"/>
              </a:rPr>
              <a:t>Limitations &amp; next test</a:t>
            </a:r>
          </a:p>
        </p:txBody>
      </p:sp>
      <p:sp>
        <p:nvSpPr>
          <p:cNvPr name="TextBox 45" id="45"/>
          <p:cNvSpPr txBox="true"/>
          <p:nvPr/>
        </p:nvSpPr>
        <p:spPr>
          <a:xfrm rot="0">
            <a:off x="7596845" y="5297681"/>
            <a:ext cx="2760812" cy="866775"/>
          </a:xfrm>
          <a:prstGeom prst="rect">
            <a:avLst/>
          </a:prstGeom>
        </p:spPr>
        <p:txBody>
          <a:bodyPr anchor="t" rtlCol="false" tIns="0" lIns="0" bIns="0" rIns="0">
            <a:spAutoFit/>
          </a:bodyPr>
          <a:lstStyle/>
          <a:p>
            <a:pPr algn="l" marL="215899" indent="-107950" lvl="1">
              <a:lnSpc>
                <a:spcPts val="1199"/>
              </a:lnSpc>
              <a:buAutoNum type="arabicPeriod" startAt="1"/>
            </a:pPr>
            <a:r>
              <a:rPr lang="en-US" sz="999">
                <a:solidFill>
                  <a:srgbClr val="212A33"/>
                </a:solidFill>
                <a:latin typeface="Times New Roman"/>
                <a:ea typeface="Times New Roman"/>
                <a:cs typeface="Times New Roman"/>
                <a:sym typeface="Times New Roman"/>
              </a:rPr>
              <a:t>Mean outcomes are conditional on the welfare weight λ and the assumed bidding rule. </a:t>
            </a:r>
          </a:p>
          <a:p>
            <a:pPr algn="l" marL="215899" indent="-107950" lvl="1">
              <a:lnSpc>
                <a:spcPts val="1199"/>
              </a:lnSpc>
              <a:buAutoNum type="arabicPeriod" startAt="1"/>
            </a:pPr>
            <a:r>
              <a:rPr lang="en-US" sz="999">
                <a:solidFill>
                  <a:srgbClr val="212A33"/>
                </a:solidFill>
                <a:latin typeface="Times New Roman"/>
                <a:ea typeface="Times New Roman"/>
                <a:cs typeface="Times New Roman"/>
                <a:sym typeface="Times New Roman"/>
              </a:rPr>
              <a:t>Risk coverage is a policy proxy, not measured avoided financial loss. </a:t>
            </a:r>
          </a:p>
          <a:p>
            <a:pPr algn="l" marL="215899" indent="-107950" lvl="1">
              <a:lnSpc>
                <a:spcPts val="1199"/>
              </a:lnSpc>
              <a:buAutoNum type="arabicPeriod" startAt="1"/>
            </a:pPr>
            <a:r>
              <a:rPr lang="en-US" sz="999">
                <a:solidFill>
                  <a:srgbClr val="212A33"/>
                </a:solidFill>
                <a:latin typeface="Times New Roman"/>
                <a:ea typeface="Times New Roman"/>
                <a:cs typeface="Times New Roman"/>
                <a:sym typeface="Times New Roman"/>
              </a:rPr>
              <a:t>Next: behavioral evidence, formal equilibrium analysis and a shadow-allocation audit.</a:t>
            </a:r>
          </a:p>
        </p:txBody>
      </p:sp>
      <p:grpSp>
        <p:nvGrpSpPr>
          <p:cNvPr name="Group 46" id="46"/>
          <p:cNvGrpSpPr/>
          <p:nvPr/>
        </p:nvGrpSpPr>
        <p:grpSpPr>
          <a:xfrm rot="0">
            <a:off x="328613" y="6942829"/>
            <a:ext cx="10029044" cy="11897"/>
            <a:chOff x="0" y="0"/>
            <a:chExt cx="13372059" cy="15862"/>
          </a:xfrm>
        </p:grpSpPr>
        <p:sp>
          <p:nvSpPr>
            <p:cNvPr name="Freeform 47" id="47"/>
            <p:cNvSpPr/>
            <p:nvPr/>
          </p:nvSpPr>
          <p:spPr>
            <a:xfrm flipH="false" flipV="false" rot="0">
              <a:off x="0" y="0"/>
              <a:ext cx="13372085" cy="15875"/>
            </a:xfrm>
            <a:custGeom>
              <a:avLst/>
              <a:gdLst/>
              <a:ahLst/>
              <a:cxnLst/>
              <a:rect r="r" b="b" t="t" l="l"/>
              <a:pathLst>
                <a:path h="15875" w="13372085">
                  <a:moveTo>
                    <a:pt x="0" y="0"/>
                  </a:moveTo>
                  <a:lnTo>
                    <a:pt x="13372085" y="0"/>
                  </a:lnTo>
                  <a:lnTo>
                    <a:pt x="13372085" y="15875"/>
                  </a:lnTo>
                  <a:lnTo>
                    <a:pt x="0" y="15875"/>
                  </a:lnTo>
                  <a:close/>
                </a:path>
              </a:pathLst>
            </a:custGeom>
            <a:solidFill>
              <a:srgbClr val="006633"/>
            </a:solidFill>
          </p:spPr>
        </p:sp>
      </p:grpSp>
      <p:sp>
        <p:nvSpPr>
          <p:cNvPr name="TextBox 48" id="48"/>
          <p:cNvSpPr txBox="true"/>
          <p:nvPr/>
        </p:nvSpPr>
        <p:spPr>
          <a:xfrm rot="0">
            <a:off x="340002" y="6962222"/>
            <a:ext cx="2760812" cy="116890"/>
          </a:xfrm>
          <a:prstGeom prst="rect">
            <a:avLst/>
          </a:prstGeom>
        </p:spPr>
        <p:txBody>
          <a:bodyPr anchor="t" rtlCol="false" tIns="0" lIns="0" bIns="0" rIns="0">
            <a:spAutoFit/>
          </a:bodyPr>
          <a:lstStyle/>
          <a:p>
            <a:pPr algn="l">
              <a:lnSpc>
                <a:spcPts val="869"/>
              </a:lnSpc>
            </a:pPr>
            <a:r>
              <a:rPr lang="en-US" sz="724" b="true">
                <a:solidFill>
                  <a:srgbClr val="212A33"/>
                </a:solidFill>
                <a:latin typeface="Times New Roman Bold"/>
                <a:ea typeface="Times New Roman Bold"/>
                <a:cs typeface="Times New Roman Bold"/>
                <a:sym typeface="Times New Roman Bold"/>
              </a:rPr>
              <a:t>ACKNOWLEDGMENTS</a:t>
            </a:r>
          </a:p>
        </p:txBody>
      </p:sp>
      <p:sp>
        <p:nvSpPr>
          <p:cNvPr name="TextBox 49" id="49"/>
          <p:cNvSpPr txBox="true"/>
          <p:nvPr/>
        </p:nvSpPr>
        <p:spPr>
          <a:xfrm rot="0">
            <a:off x="340002" y="7073164"/>
            <a:ext cx="2760812" cy="453794"/>
          </a:xfrm>
          <a:prstGeom prst="rect">
            <a:avLst/>
          </a:prstGeom>
        </p:spPr>
        <p:txBody>
          <a:bodyPr anchor="t" rtlCol="false" tIns="0" lIns="0" bIns="0" rIns="0">
            <a:spAutoFit/>
          </a:bodyPr>
          <a:lstStyle/>
          <a:p>
            <a:pPr algn="l">
              <a:lnSpc>
                <a:spcPts val="719"/>
              </a:lnSpc>
            </a:pPr>
            <a:r>
              <a:rPr lang="en-US" sz="599">
                <a:solidFill>
                  <a:srgbClr val="212A33"/>
                </a:solidFill>
                <a:latin typeface="Times New Roman"/>
                <a:ea typeface="Times New Roman"/>
                <a:cs typeface="Times New Roman"/>
                <a:sym typeface="Times New Roman"/>
              </a:rPr>
              <a:t>Professor Luyao Zhang: poster template.</a:t>
            </a:r>
          </a:p>
          <a:p>
            <a:pPr algn="l">
              <a:lnSpc>
                <a:spcPts val="719"/>
              </a:lnSpc>
            </a:pPr>
            <a:r>
              <a:rPr lang="en-US" sz="599">
                <a:solidFill>
                  <a:srgbClr val="212A33"/>
                </a:solidFill>
                <a:latin typeface="Times New Roman"/>
                <a:ea typeface="Times New Roman"/>
                <a:cs typeface="Times New Roman"/>
                <a:sym typeface="Times New Roman"/>
              </a:rPr>
              <a:t>OpenAI ChatGPT / Codex assisted with model, code, literature and writing; authors retain responsibility.</a:t>
            </a:r>
          </a:p>
          <a:p>
            <a:pPr algn="l">
              <a:lnSpc>
                <a:spcPts val="719"/>
              </a:lnSpc>
            </a:pPr>
            <a:r>
              <a:rPr lang="en-US" sz="599">
                <a:solidFill>
                  <a:srgbClr val="212A33"/>
                </a:solidFill>
                <a:latin typeface="Times New Roman"/>
                <a:ea typeface="Times New Roman"/>
                <a:cs typeface="Times New Roman"/>
                <a:sym typeface="Times New Roman"/>
              </a:rPr>
              <a:t>Python: python3 simulation.py</a:t>
            </a:r>
          </a:p>
          <a:p>
            <a:pPr algn="l">
              <a:lnSpc>
                <a:spcPts val="719"/>
              </a:lnSpc>
            </a:pPr>
            <a:r>
              <a:rPr lang="en-US" sz="599">
                <a:solidFill>
                  <a:srgbClr val="212A33"/>
                </a:solidFill>
                <a:latin typeface="Times New Roman"/>
                <a:ea typeface="Times New Roman"/>
                <a:cs typeface="Times New Roman"/>
                <a:sym typeface="Times New Roman"/>
              </a:rPr>
              <a:t>6 tests passed; 31,265 output cells verified.</a:t>
            </a:r>
          </a:p>
        </p:txBody>
      </p:sp>
      <p:sp>
        <p:nvSpPr>
          <p:cNvPr name="TextBox 50" id="50"/>
          <p:cNvSpPr txBox="true"/>
          <p:nvPr/>
        </p:nvSpPr>
        <p:spPr>
          <a:xfrm rot="0">
            <a:off x="3332016" y="6962222"/>
            <a:ext cx="4031409" cy="116890"/>
          </a:xfrm>
          <a:prstGeom prst="rect">
            <a:avLst/>
          </a:prstGeom>
        </p:spPr>
        <p:txBody>
          <a:bodyPr anchor="t" rtlCol="false" tIns="0" lIns="0" bIns="0" rIns="0">
            <a:spAutoFit/>
          </a:bodyPr>
          <a:lstStyle/>
          <a:p>
            <a:pPr algn="l">
              <a:lnSpc>
                <a:spcPts val="869"/>
              </a:lnSpc>
            </a:pPr>
            <a:r>
              <a:rPr lang="en-US" sz="724" b="true">
                <a:solidFill>
                  <a:srgbClr val="212A33"/>
                </a:solidFill>
                <a:latin typeface="Times New Roman Bold"/>
                <a:ea typeface="Times New Roman Bold"/>
                <a:cs typeface="Times New Roman Bold"/>
                <a:sym typeface="Times New Roman Bold"/>
              </a:rPr>
              <a:t>SELECTED REFERENCES</a:t>
            </a:r>
          </a:p>
        </p:txBody>
      </p:sp>
      <p:sp>
        <p:nvSpPr>
          <p:cNvPr name="TextBox 51" id="51"/>
          <p:cNvSpPr txBox="true"/>
          <p:nvPr/>
        </p:nvSpPr>
        <p:spPr>
          <a:xfrm rot="0">
            <a:off x="3334388" y="7088637"/>
            <a:ext cx="4031409" cy="357536"/>
          </a:xfrm>
          <a:prstGeom prst="rect">
            <a:avLst/>
          </a:prstGeom>
        </p:spPr>
        <p:txBody>
          <a:bodyPr anchor="t" rtlCol="false" tIns="0" lIns="0" bIns="0" rIns="0">
            <a:spAutoFit/>
          </a:bodyPr>
          <a:lstStyle/>
          <a:p>
            <a:pPr algn="l">
              <a:lnSpc>
                <a:spcPts val="704"/>
              </a:lnSpc>
            </a:pPr>
            <a:r>
              <a:rPr lang="en-US" sz="587">
                <a:solidFill>
                  <a:srgbClr val="212A33"/>
                </a:solidFill>
                <a:latin typeface="Times New Roman"/>
                <a:ea typeface="Times New Roman"/>
                <a:cs typeface="Times New Roman"/>
                <a:sym typeface="Times New Roman"/>
              </a:rPr>
              <a:t>[1] Sheng et al. (2026). Generative AI and Asset Management. Review of Financial Studies. doi:10.1093/rfs/hhag050</a:t>
            </a:r>
          </a:p>
          <a:p>
            <a:pPr algn="l">
              <a:lnSpc>
                <a:spcPts val="704"/>
              </a:lnSpc>
            </a:pPr>
            <a:r>
              <a:rPr lang="en-US" sz="587">
                <a:solidFill>
                  <a:srgbClr val="212A33"/>
                </a:solidFill>
                <a:latin typeface="Times New Roman"/>
                <a:ea typeface="Times New Roman"/>
                <a:cs typeface="Times New Roman"/>
                <a:sym typeface="Times New Roman"/>
              </a:rPr>
              <a:t>[2] Sivan et al. (2026). Quota Marketplace: Dynamic Pricing for Efficient Allocation of ML Training Resources. arXiv:2607.09802.</a:t>
            </a:r>
          </a:p>
          <a:p>
            <a:pPr algn="l">
              <a:lnSpc>
                <a:spcPts val="704"/>
              </a:lnSpc>
            </a:pPr>
            <a:r>
              <a:rPr lang="en-US" sz="587">
                <a:solidFill>
                  <a:srgbClr val="212A33"/>
                </a:solidFill>
                <a:latin typeface="Times New Roman"/>
                <a:ea typeface="Times New Roman"/>
                <a:cs typeface="Times New Roman"/>
                <a:sym typeface="Times New Roman"/>
              </a:rPr>
              <a:t>[3] Pathak et al. (2023). Fair Allocation of Vaccines, Ventilators and Antiviral Treatments: Leaving No Ethical Value Behind in Health Care Rationing. arXiv:2008.00374.</a:t>
            </a:r>
          </a:p>
        </p:txBody>
      </p:sp>
      <p:sp>
        <p:nvSpPr>
          <p:cNvPr name="TextBox 52" id="52"/>
          <p:cNvSpPr txBox="true"/>
          <p:nvPr/>
        </p:nvSpPr>
        <p:spPr>
          <a:xfrm rot="0">
            <a:off x="7601426" y="6962222"/>
            <a:ext cx="2760812" cy="116890"/>
          </a:xfrm>
          <a:prstGeom prst="rect">
            <a:avLst/>
          </a:prstGeom>
        </p:spPr>
        <p:txBody>
          <a:bodyPr anchor="t" rtlCol="false" tIns="0" lIns="0" bIns="0" rIns="0">
            <a:spAutoFit/>
          </a:bodyPr>
          <a:lstStyle/>
          <a:p>
            <a:pPr algn="l">
              <a:lnSpc>
                <a:spcPts val="869"/>
              </a:lnSpc>
            </a:pPr>
            <a:r>
              <a:rPr lang="en-US" sz="724" b="true">
                <a:solidFill>
                  <a:srgbClr val="212A33"/>
                </a:solidFill>
                <a:latin typeface="Times New Roman Bold"/>
                <a:ea typeface="Times New Roman Bold"/>
                <a:cs typeface="Times New Roman Bold"/>
                <a:sym typeface="Times New Roman Bold"/>
              </a:rPr>
              <a:t>OPEN MATERIALS</a:t>
            </a:r>
          </a:p>
        </p:txBody>
      </p:sp>
      <p:sp>
        <p:nvSpPr>
          <p:cNvPr name="TextBox 53" id="53"/>
          <p:cNvSpPr txBox="true"/>
          <p:nvPr/>
        </p:nvSpPr>
        <p:spPr>
          <a:xfrm rot="0">
            <a:off x="7603931" y="7088637"/>
            <a:ext cx="1856413" cy="344309"/>
          </a:xfrm>
          <a:prstGeom prst="rect">
            <a:avLst/>
          </a:prstGeom>
        </p:spPr>
        <p:txBody>
          <a:bodyPr anchor="t" rtlCol="false" tIns="0" lIns="0" bIns="0" rIns="0">
            <a:spAutoFit/>
          </a:bodyPr>
          <a:lstStyle/>
          <a:p>
            <a:pPr algn="l">
              <a:lnSpc>
                <a:spcPts val="697"/>
              </a:lnSpc>
            </a:pPr>
            <a:r>
              <a:rPr lang="en-US" sz="580" u="sng">
                <a:solidFill>
                  <a:srgbClr val="467886"/>
                </a:solidFill>
                <a:latin typeface="Times New Roman"/>
                <a:ea typeface="Times New Roman"/>
                <a:cs typeface="Times New Roman"/>
                <a:sym typeface="Times New Roman"/>
                <a:hlinkClick r:id="rId4" tooltip="https://github.com/JianNi-220/PS2_Qianshuo_Zhenning"/>
              </a:rPr>
              <a:t>GitHub: code + notebook</a:t>
            </a:r>
          </a:p>
          <a:p>
            <a:pPr algn="l">
              <a:lnSpc>
                <a:spcPts val="697"/>
              </a:lnSpc>
            </a:pPr>
            <a:r>
              <a:rPr lang="en-US" sz="580">
                <a:solidFill>
                  <a:srgbClr val="212A33"/>
                </a:solidFill>
                <a:latin typeface="Times New Roman"/>
                <a:ea typeface="Times New Roman"/>
                <a:cs typeface="Times New Roman"/>
                <a:sym typeface="Times New Roman"/>
              </a:rPr>
              <a:t>JianNi-220/PS2_Qianshuo_Zhenning</a:t>
            </a:r>
          </a:p>
          <a:p>
            <a:pPr algn="l">
              <a:lnSpc>
                <a:spcPts val="697"/>
              </a:lnSpc>
            </a:pPr>
            <a:r>
              <a:rPr lang="en-US" sz="580" u="sng">
                <a:solidFill>
                  <a:srgbClr val="467886"/>
                </a:solidFill>
                <a:latin typeface="Times New Roman"/>
                <a:ea typeface="Times New Roman"/>
                <a:cs typeface="Times New Roman"/>
                <a:sym typeface="Times New Roman"/>
                <a:hlinkClick r:id="rId5" tooltip="https://huggingface.co/spaces/Zn7777/PS2_Qianshuo_Zhenning_PM_Bid"/>
              </a:rPr>
              <a:t>Hugging Face: live game</a:t>
            </a:r>
          </a:p>
          <a:p>
            <a:pPr algn="l">
              <a:lnSpc>
                <a:spcPts val="697"/>
              </a:lnSpc>
            </a:pPr>
            <a:r>
              <a:rPr lang="en-US" sz="580">
                <a:solidFill>
                  <a:srgbClr val="212A33"/>
                </a:solidFill>
                <a:latin typeface="Times New Roman"/>
                <a:ea typeface="Times New Roman"/>
                <a:cs typeface="Times New Roman"/>
                <a:sym typeface="Times New Roman"/>
              </a:rPr>
              <a:t>Zn7777/PS2_Qianshuo_Zhenning_PM_Bid</a:t>
            </a:r>
          </a:p>
        </p:txBody>
      </p:sp>
      <p:sp>
        <p:nvSpPr>
          <p:cNvPr name="TextBox 54" id="54"/>
          <p:cNvSpPr txBox="true"/>
          <p:nvPr/>
        </p:nvSpPr>
        <p:spPr>
          <a:xfrm rot="0">
            <a:off x="7601426" y="7479333"/>
            <a:ext cx="10029044" cy="72194"/>
          </a:xfrm>
          <a:prstGeom prst="rect">
            <a:avLst/>
          </a:prstGeom>
        </p:spPr>
        <p:txBody>
          <a:bodyPr anchor="t" rtlCol="false" tIns="0" lIns="0" bIns="0" rIns="0">
            <a:spAutoFit/>
          </a:bodyPr>
          <a:lstStyle/>
          <a:p>
            <a:pPr algn="l">
              <a:lnSpc>
                <a:spcPts val="584"/>
              </a:lnSpc>
            </a:pPr>
            <a:r>
              <a:rPr lang="en-US" sz="487">
                <a:solidFill>
                  <a:srgbClr val="212A33"/>
                </a:solidFill>
                <a:latin typeface="Times New Roman"/>
                <a:ea typeface="Times New Roman"/>
                <a:cs typeface="Times New Roman"/>
                <a:sym typeface="Times New Roman"/>
              </a:rPr>
              <a:t>FP8 · Session D   |   A0 landscape · 1189 × 841 mm   |   Full details and bibliography in the proposal</a:t>
            </a:r>
          </a:p>
        </p:txBody>
      </p:sp>
      <p:sp>
        <p:nvSpPr>
          <p:cNvPr name="TextBox 55" id="55"/>
          <p:cNvSpPr txBox="true"/>
          <p:nvPr/>
        </p:nvSpPr>
        <p:spPr>
          <a:xfrm rot="0">
            <a:off x="3590660" y="2984544"/>
            <a:ext cx="1607052" cy="152400"/>
          </a:xfrm>
          <a:prstGeom prst="rect">
            <a:avLst/>
          </a:prstGeom>
        </p:spPr>
        <p:txBody>
          <a:bodyPr anchor="t" rtlCol="false" tIns="0" lIns="0" bIns="0" rIns="0">
            <a:spAutoFit/>
          </a:bodyPr>
          <a:lstStyle/>
          <a:p>
            <a:pPr algn="l">
              <a:lnSpc>
                <a:spcPts val="1199"/>
              </a:lnSpc>
            </a:pPr>
            <a:r>
              <a:rPr lang="en-US" b="true" sz="999" spc="-45">
                <a:solidFill>
                  <a:srgbClr val="003399"/>
                </a:solidFill>
                <a:latin typeface="Times New Roman Bold"/>
                <a:ea typeface="Times New Roman Bold"/>
                <a:cs typeface="Times New Roman Bold"/>
                <a:sym typeface="Times New Roman Bold"/>
              </a:rPr>
              <a:t>PURE FPA</a:t>
            </a:r>
          </a:p>
        </p:txBody>
      </p:sp>
      <p:sp>
        <p:nvSpPr>
          <p:cNvPr name="TextBox 56" id="56"/>
          <p:cNvSpPr txBox="true"/>
          <p:nvPr/>
        </p:nvSpPr>
        <p:spPr>
          <a:xfrm rot="0">
            <a:off x="3326455" y="3308394"/>
            <a:ext cx="1213809" cy="276225"/>
          </a:xfrm>
          <a:prstGeom prst="rect">
            <a:avLst/>
          </a:prstGeom>
        </p:spPr>
        <p:txBody>
          <a:bodyPr anchor="t" rtlCol="false" tIns="0" lIns="0" bIns="0" rIns="0">
            <a:spAutoFit/>
          </a:bodyPr>
          <a:lstStyle/>
          <a:p>
            <a:pPr algn="ctr">
              <a:lnSpc>
                <a:spcPts val="1094"/>
              </a:lnSpc>
            </a:pPr>
            <a:r>
              <a:rPr lang="en-US" sz="912" b="true">
                <a:solidFill>
                  <a:srgbClr val="212A33"/>
                </a:solidFill>
                <a:latin typeface="Times New Roman Bold"/>
                <a:ea typeface="Times New Roman Bold"/>
                <a:cs typeface="Times New Roman Bold"/>
                <a:sym typeface="Times New Roman Bold"/>
              </a:rPr>
              <a:t>4 highest bids win;</a:t>
            </a:r>
          </a:p>
          <a:p>
            <a:pPr algn="ctr">
              <a:lnSpc>
                <a:spcPts val="1094"/>
              </a:lnSpc>
            </a:pPr>
            <a:r>
              <a:rPr lang="en-US" sz="912" b="true">
                <a:solidFill>
                  <a:srgbClr val="212A33"/>
                </a:solidFill>
                <a:latin typeface="Times New Roman Bold"/>
                <a:ea typeface="Times New Roman Bold"/>
                <a:cs typeface="Times New Roman Bold"/>
                <a:sym typeface="Times New Roman Bold"/>
              </a:rPr>
              <a:t>each pays own bid.</a:t>
            </a:r>
          </a:p>
        </p:txBody>
      </p:sp>
      <p:sp>
        <p:nvSpPr>
          <p:cNvPr name="TextBox 57" id="57"/>
          <p:cNvSpPr txBox="true"/>
          <p:nvPr/>
        </p:nvSpPr>
        <p:spPr>
          <a:xfrm rot="0">
            <a:off x="5059615" y="2984544"/>
            <a:ext cx="1213809" cy="152400"/>
          </a:xfrm>
          <a:prstGeom prst="rect">
            <a:avLst/>
          </a:prstGeom>
        </p:spPr>
        <p:txBody>
          <a:bodyPr anchor="t" rtlCol="false" tIns="0" lIns="0" bIns="0" rIns="0">
            <a:spAutoFit/>
          </a:bodyPr>
          <a:lstStyle/>
          <a:p>
            <a:pPr algn="l">
              <a:lnSpc>
                <a:spcPts val="1199"/>
              </a:lnSpc>
            </a:pPr>
            <a:r>
              <a:rPr lang="en-US" b="true" sz="999" spc="-45">
                <a:solidFill>
                  <a:srgbClr val="003399"/>
                </a:solidFill>
                <a:latin typeface="Times New Roman Bold"/>
                <a:ea typeface="Times New Roman Bold"/>
                <a:cs typeface="Times New Roman Bold"/>
                <a:sym typeface="Times New Roman Bold"/>
              </a:rPr>
              <a:t>HYBRID </a:t>
            </a:r>
          </a:p>
        </p:txBody>
      </p:sp>
      <p:sp>
        <p:nvSpPr>
          <p:cNvPr name="TextBox 58" id="58"/>
          <p:cNvSpPr txBox="true"/>
          <p:nvPr/>
        </p:nvSpPr>
        <p:spPr>
          <a:xfrm rot="0">
            <a:off x="4692414" y="3308394"/>
            <a:ext cx="1315375" cy="276225"/>
          </a:xfrm>
          <a:prstGeom prst="rect">
            <a:avLst/>
          </a:prstGeom>
        </p:spPr>
        <p:txBody>
          <a:bodyPr anchor="t" rtlCol="false" tIns="0" lIns="0" bIns="0" rIns="0">
            <a:spAutoFit/>
          </a:bodyPr>
          <a:lstStyle/>
          <a:p>
            <a:pPr algn="ctr">
              <a:lnSpc>
                <a:spcPts val="1094"/>
              </a:lnSpc>
            </a:pPr>
            <a:r>
              <a:rPr lang="en-US" sz="912" b="true">
                <a:solidFill>
                  <a:srgbClr val="212A33"/>
                </a:solidFill>
                <a:latin typeface="Times New Roman Bold"/>
                <a:ea typeface="Times New Roman Bold"/>
                <a:cs typeface="Times New Roman Bold"/>
                <a:sym typeface="Times New Roman Bold"/>
              </a:rPr>
              <a:t>Highest r ≥ 60: free slot.</a:t>
            </a:r>
          </a:p>
          <a:p>
            <a:pPr algn="ctr">
              <a:lnSpc>
                <a:spcPts val="1094"/>
              </a:lnSpc>
            </a:pPr>
            <a:r>
              <a:rPr lang="en-US" sz="912" b="true">
                <a:solidFill>
                  <a:srgbClr val="212A33"/>
                </a:solidFill>
                <a:latin typeface="Times New Roman Bold"/>
                <a:ea typeface="Times New Roman Bold"/>
                <a:cs typeface="Times New Roman Bold"/>
                <a:sym typeface="Times New Roman Bold"/>
              </a:rPr>
              <a:t>Then 3 auction slots.</a:t>
            </a:r>
          </a:p>
        </p:txBody>
      </p:sp>
      <p:sp>
        <p:nvSpPr>
          <p:cNvPr name="TextBox 59" id="59"/>
          <p:cNvSpPr txBox="true"/>
          <p:nvPr/>
        </p:nvSpPr>
        <p:spPr>
          <a:xfrm rot="0">
            <a:off x="6479057" y="2984544"/>
            <a:ext cx="1213809" cy="152400"/>
          </a:xfrm>
          <a:prstGeom prst="rect">
            <a:avLst/>
          </a:prstGeom>
        </p:spPr>
        <p:txBody>
          <a:bodyPr anchor="t" rtlCol="false" tIns="0" lIns="0" bIns="0" rIns="0">
            <a:spAutoFit/>
          </a:bodyPr>
          <a:lstStyle/>
          <a:p>
            <a:pPr algn="l">
              <a:lnSpc>
                <a:spcPts val="1199"/>
              </a:lnSpc>
            </a:pPr>
            <a:r>
              <a:rPr lang="en-US" b="true" sz="999" spc="-45">
                <a:solidFill>
                  <a:srgbClr val="003399"/>
                </a:solidFill>
                <a:latin typeface="Times New Roman Bold"/>
                <a:ea typeface="Times New Roman Bold"/>
                <a:cs typeface="Times New Roman Bold"/>
                <a:sym typeface="Times New Roman Bold"/>
              </a:rPr>
              <a:t>FCFS</a:t>
            </a:r>
          </a:p>
        </p:txBody>
      </p:sp>
      <p:sp>
        <p:nvSpPr>
          <p:cNvPr name="TextBox 60" id="60"/>
          <p:cNvSpPr txBox="true"/>
          <p:nvPr/>
        </p:nvSpPr>
        <p:spPr>
          <a:xfrm rot="0">
            <a:off x="6033508" y="3308394"/>
            <a:ext cx="1213809" cy="276225"/>
          </a:xfrm>
          <a:prstGeom prst="rect">
            <a:avLst/>
          </a:prstGeom>
        </p:spPr>
        <p:txBody>
          <a:bodyPr anchor="t" rtlCol="false" tIns="0" lIns="0" bIns="0" rIns="0">
            <a:spAutoFit/>
          </a:bodyPr>
          <a:lstStyle/>
          <a:p>
            <a:pPr algn="ctr">
              <a:lnSpc>
                <a:spcPts val="1094"/>
              </a:lnSpc>
            </a:pPr>
            <a:r>
              <a:rPr lang="en-US" sz="912" b="true">
                <a:solidFill>
                  <a:srgbClr val="212A33"/>
                </a:solidFill>
                <a:latin typeface="Times New Roman Bold"/>
                <a:ea typeface="Times New Roman Bold"/>
                <a:cs typeface="Times New Roman Bold"/>
                <a:sym typeface="Times New Roman Bold"/>
              </a:rPr>
              <a:t>4 earliest requests;</a:t>
            </a:r>
          </a:p>
          <a:p>
            <a:pPr algn="ctr">
              <a:lnSpc>
                <a:spcPts val="1094"/>
              </a:lnSpc>
            </a:pPr>
            <a:r>
              <a:rPr lang="en-US" sz="912" b="true">
                <a:solidFill>
                  <a:srgbClr val="212A33"/>
                </a:solidFill>
                <a:latin typeface="Times New Roman Bold"/>
                <a:ea typeface="Times New Roman Bold"/>
                <a:cs typeface="Times New Roman Bold"/>
                <a:sym typeface="Times New Roman Bold"/>
              </a:rPr>
              <a:t>exogenous order, free.</a:t>
            </a:r>
          </a:p>
        </p:txBody>
      </p:sp>
      <p:pic>
        <p:nvPicPr>
          <p:cNvPr name="Picture 61" id="61"/>
          <p:cNvPicPr>
            <a:picLocks noChangeAspect="true"/>
          </p:cNvPicPr>
          <p:nvPr/>
        </p:nvPicPr>
        <p:blipFill>
          <a:blip r:embed="rId6"/>
          <a:stretch>
            <a:fillRect/>
          </a:stretch>
        </p:blipFill>
        <p:spPr>
          <a:xfrm rot="0">
            <a:off x="3162258" y="3957750"/>
            <a:ext cx="4456428" cy="2014491"/>
          </a:xfrm>
          <a:prstGeom prst="rect">
            <a:avLst/>
          </a:prstGeom>
        </p:spPr>
      </p:pic>
      <p:graphicFrame>
        <p:nvGraphicFramePr>
          <p:cNvPr name="Table 62" id="62"/>
          <p:cNvGraphicFramePr>
            <a:graphicFrameLocks noGrp="true"/>
          </p:cNvGraphicFramePr>
          <p:nvPr/>
        </p:nvGraphicFramePr>
        <p:xfrm>
          <a:off x="3329635" y="5709609"/>
          <a:ext cx="4036171" cy="690563"/>
        </p:xfrm>
        <a:graphic>
          <a:graphicData uri="http://schemas.openxmlformats.org/drawingml/2006/table">
            <a:tbl>
              <a:tblPr/>
              <a:tblGrid>
                <a:gridCol w="1317883"/>
                <a:gridCol w="969763"/>
                <a:gridCol w="969763"/>
                <a:gridCol w="778763"/>
              </a:tblGrid>
              <a:tr h="172641">
                <a:tc>
                  <a:txBody>
                    <a:bodyPr anchor="t" rtlCol="false"/>
                    <a:lstStyle/>
                    <a:p>
                      <a:pPr algn="ctr">
                        <a:lnSpc>
                          <a:spcPts val="959"/>
                        </a:lnSpc>
                        <a:defRPr/>
                      </a:pPr>
                      <a:r>
                        <a:rPr lang="en-US" sz="799" b="true">
                          <a:solidFill>
                            <a:srgbClr val="FFFFFF"/>
                          </a:solidFill>
                          <a:latin typeface="Times New Roman Bold"/>
                          <a:ea typeface="Times New Roman Bold"/>
                          <a:cs typeface="Times New Roman Bold"/>
                          <a:sym typeface="Times New Roman Bold"/>
                        </a:rPr>
                        <a:t>Mean per batch</a:t>
                      </a:r>
                      <a:endParaRPr lang="en-US" sz="1100"/>
                    </a:p>
                  </a:txBody>
                  <a:tcPr marL="0" marR="0" marT="0" marB="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03399"/>
                    </a:solidFill>
                  </a:tcPr>
                </a:tc>
                <a:tc>
                  <a:txBody>
                    <a:bodyPr anchor="t" rtlCol="false"/>
                    <a:lstStyle/>
                    <a:p>
                      <a:pPr algn="ctr">
                        <a:lnSpc>
                          <a:spcPts val="959"/>
                        </a:lnSpc>
                        <a:defRPr/>
                      </a:pPr>
                      <a:r>
                        <a:rPr lang="en-US" sz="799" b="true">
                          <a:solidFill>
                            <a:srgbClr val="FFFFFF"/>
                          </a:solidFill>
                          <a:latin typeface="Times New Roman Bold"/>
                          <a:ea typeface="Times New Roman Bold"/>
                          <a:cs typeface="Times New Roman Bold"/>
                          <a:sym typeface="Times New Roman Bold"/>
                        </a:rPr>
                        <a:t>Welfare W</a:t>
                      </a:r>
                      <a:endParaRPr lang="en-US" sz="1100"/>
                    </a:p>
                  </a:txBody>
                  <a:tcPr marL="0" marR="0" marT="0" marB="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03399"/>
                    </a:solidFill>
                  </a:tcPr>
                </a:tc>
                <a:tc>
                  <a:txBody>
                    <a:bodyPr anchor="t" rtlCol="false"/>
                    <a:lstStyle/>
                    <a:p>
                      <a:pPr algn="ctr">
                        <a:lnSpc>
                          <a:spcPts val="959"/>
                        </a:lnSpc>
                        <a:defRPr/>
                      </a:pPr>
                      <a:r>
                        <a:rPr lang="en-US" sz="799" b="true">
                          <a:solidFill>
                            <a:srgbClr val="FFFFFF"/>
                          </a:solidFill>
                          <a:latin typeface="Times New Roman Bold"/>
                          <a:ea typeface="Times New Roman Bold"/>
                          <a:cs typeface="Times New Roman Bold"/>
                          <a:sym typeface="Times New Roman Bold"/>
                        </a:rPr>
                        <a:t>Payments</a:t>
                      </a:r>
                      <a:endParaRPr lang="en-US" sz="1100"/>
                    </a:p>
                  </a:txBody>
                  <a:tcPr marL="0" marR="0" marT="0" marB="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03399"/>
                    </a:solidFill>
                  </a:tcPr>
                </a:tc>
                <a:tc>
                  <a:txBody>
                    <a:bodyPr anchor="t" rtlCol="false"/>
                    <a:lstStyle/>
                    <a:p>
                      <a:pPr algn="ctr">
                        <a:lnSpc>
                          <a:spcPts val="959"/>
                        </a:lnSpc>
                        <a:defRPr/>
                      </a:pPr>
                      <a:r>
                        <a:rPr lang="en-US" sz="799" b="true">
                          <a:solidFill>
                            <a:srgbClr val="FFFFFF"/>
                          </a:solidFill>
                          <a:latin typeface="Times New Roman Bold"/>
                          <a:ea typeface="Times New Roman Bold"/>
                          <a:cs typeface="Times New Roman Bold"/>
                          <a:sym typeface="Times New Roman Bold"/>
                        </a:rPr>
                        <a:t>PM utility</a:t>
                      </a:r>
                      <a:endParaRPr lang="en-US" sz="1100"/>
                    </a:p>
                  </a:txBody>
                  <a:tcPr marL="0" marR="0" marT="0" marB="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03399"/>
                    </a:solidFill>
                  </a:tcPr>
                </a:tc>
              </a:tr>
              <a:tr h="172641">
                <a:tc>
                  <a:txBody>
                    <a:bodyPr anchor="t" rtlCol="false"/>
                    <a:lstStyle/>
                    <a:p>
                      <a:pPr algn="ctr">
                        <a:lnSpc>
                          <a:spcPts val="959"/>
                        </a:lnSpc>
                        <a:defRPr/>
                      </a:pPr>
                      <a:r>
                        <a:rPr lang="en-US" sz="799">
                          <a:solidFill>
                            <a:srgbClr val="212A33"/>
                          </a:solidFill>
                          <a:latin typeface="Times New Roman"/>
                          <a:ea typeface="Times New Roman"/>
                          <a:cs typeface="Times New Roman"/>
                          <a:sym typeface="Times New Roman"/>
                        </a:rPr>
                        <a:t>Pure auction</a:t>
                      </a:r>
                      <a:endParaRPr lang="en-US" sz="1100"/>
                    </a:p>
                  </a:txBody>
                  <a:tcPr marL="0" marR="0" marT="0" marB="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959"/>
                        </a:lnSpc>
                        <a:defRPr/>
                      </a:pPr>
                      <a:r>
                        <a:rPr lang="en-US" sz="799">
                          <a:solidFill>
                            <a:srgbClr val="212A33"/>
                          </a:solidFill>
                          <a:latin typeface="Times New Roman"/>
                          <a:ea typeface="Times New Roman"/>
                          <a:cs typeface="Times New Roman"/>
                          <a:sym typeface="Times New Roman"/>
                        </a:rPr>
                        <a:t>454.43</a:t>
                      </a:r>
                      <a:endParaRPr lang="en-US" sz="1100"/>
                    </a:p>
                  </a:txBody>
                  <a:tcPr marL="0" marR="0" marT="0" marB="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959"/>
                        </a:lnSpc>
                        <a:defRPr/>
                      </a:pPr>
                      <a:r>
                        <a:rPr lang="en-US" sz="799">
                          <a:solidFill>
                            <a:srgbClr val="212A33"/>
                          </a:solidFill>
                          <a:latin typeface="Times New Roman"/>
                          <a:ea typeface="Times New Roman"/>
                          <a:cs typeface="Times New Roman"/>
                          <a:sym typeface="Times New Roman"/>
                        </a:rPr>
                        <a:t>282.46</a:t>
                      </a:r>
                      <a:endParaRPr lang="en-US" sz="1100"/>
                    </a:p>
                  </a:txBody>
                  <a:tcPr marL="0" marR="0" marT="0" marB="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959"/>
                        </a:lnSpc>
                        <a:defRPr/>
                      </a:pPr>
                      <a:r>
                        <a:rPr lang="en-US" sz="799">
                          <a:solidFill>
                            <a:srgbClr val="212A33"/>
                          </a:solidFill>
                          <a:latin typeface="Times New Roman"/>
                          <a:ea typeface="Times New Roman"/>
                          <a:cs typeface="Times New Roman"/>
                          <a:sym typeface="Times New Roman"/>
                        </a:rPr>
                        <a:t>70.62</a:t>
                      </a:r>
                      <a:endParaRPr lang="en-US" sz="1100"/>
                    </a:p>
                  </a:txBody>
                  <a:tcPr marL="0" marR="0" marT="0" marB="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172641">
                <a:tc>
                  <a:txBody>
                    <a:bodyPr anchor="t" rtlCol="false"/>
                    <a:lstStyle/>
                    <a:p>
                      <a:pPr algn="ctr">
                        <a:lnSpc>
                          <a:spcPts val="959"/>
                        </a:lnSpc>
                        <a:defRPr/>
                      </a:pPr>
                      <a:r>
                        <a:rPr lang="en-US" sz="799">
                          <a:solidFill>
                            <a:srgbClr val="212A33"/>
                          </a:solidFill>
                          <a:latin typeface="Times New Roman"/>
                          <a:ea typeface="Times New Roman"/>
                          <a:cs typeface="Times New Roman"/>
                          <a:sym typeface="Times New Roman"/>
                        </a:rPr>
                        <a:t>Hybrid</a:t>
                      </a:r>
                      <a:endParaRPr lang="en-US" sz="1100"/>
                    </a:p>
                  </a:txBody>
                  <a:tcPr marL="0" marR="0" marT="0" marB="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1ED"/>
                    </a:solidFill>
                  </a:tcPr>
                </a:tc>
                <a:tc>
                  <a:txBody>
                    <a:bodyPr anchor="t" rtlCol="false"/>
                    <a:lstStyle/>
                    <a:p>
                      <a:pPr algn="ctr">
                        <a:lnSpc>
                          <a:spcPts val="959"/>
                        </a:lnSpc>
                        <a:defRPr/>
                      </a:pPr>
                      <a:r>
                        <a:rPr lang="en-US" sz="799">
                          <a:solidFill>
                            <a:srgbClr val="212A33"/>
                          </a:solidFill>
                          <a:latin typeface="Times New Roman"/>
                          <a:ea typeface="Times New Roman"/>
                          <a:cs typeface="Times New Roman"/>
                          <a:sym typeface="Times New Roman"/>
                        </a:rPr>
                        <a:t>464.20</a:t>
                      </a:r>
                      <a:endParaRPr lang="en-US" sz="1100"/>
                    </a:p>
                  </a:txBody>
                  <a:tcPr marL="0" marR="0" marT="0" marB="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1ED"/>
                    </a:solidFill>
                  </a:tcPr>
                </a:tc>
                <a:tc>
                  <a:txBody>
                    <a:bodyPr anchor="t" rtlCol="false"/>
                    <a:lstStyle/>
                    <a:p>
                      <a:pPr algn="ctr">
                        <a:lnSpc>
                          <a:spcPts val="1183"/>
                        </a:lnSpc>
                        <a:defRPr/>
                      </a:pPr>
                      <a:r>
                        <a:rPr lang="en-US" sz="799">
                          <a:solidFill>
                            <a:srgbClr val="212A33"/>
                          </a:solidFill>
                          <a:latin typeface="Times New Roman"/>
                          <a:ea typeface="Times New Roman"/>
                          <a:cs typeface="Times New Roman"/>
                          <a:sym typeface="Times New Roman"/>
                        </a:rPr>
                        <a:t>226.98</a:t>
                      </a:r>
                      <a:endParaRPr lang="en-US" sz="1100"/>
                    </a:p>
                  </a:txBody>
                  <a:tcPr marL="0" marR="0" marT="0" marB="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1ED"/>
                    </a:solidFill>
                  </a:tcPr>
                </a:tc>
                <a:tc>
                  <a:txBody>
                    <a:bodyPr anchor="t" rtlCol="false"/>
                    <a:lstStyle/>
                    <a:p>
                      <a:pPr algn="ctr">
                        <a:lnSpc>
                          <a:spcPts val="959"/>
                        </a:lnSpc>
                        <a:defRPr/>
                      </a:pPr>
                      <a:r>
                        <a:rPr lang="en-US" sz="799">
                          <a:solidFill>
                            <a:srgbClr val="212A33"/>
                          </a:solidFill>
                          <a:latin typeface="Times New Roman"/>
                          <a:ea typeface="Times New Roman"/>
                          <a:cs typeface="Times New Roman"/>
                          <a:sym typeface="Times New Roman"/>
                        </a:rPr>
                        <a:t>99.28</a:t>
                      </a:r>
                      <a:endParaRPr lang="en-US" sz="1100"/>
                    </a:p>
                  </a:txBody>
                  <a:tcPr marL="0" marR="0" marT="0" marB="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1ED"/>
                    </a:solidFill>
                  </a:tcPr>
                </a:tc>
              </a:tr>
              <a:tr h="172641">
                <a:tc>
                  <a:txBody>
                    <a:bodyPr anchor="t" rtlCol="false"/>
                    <a:lstStyle/>
                    <a:p>
                      <a:pPr algn="ctr">
                        <a:lnSpc>
                          <a:spcPts val="959"/>
                        </a:lnSpc>
                        <a:defRPr/>
                      </a:pPr>
                      <a:r>
                        <a:rPr lang="en-US" sz="799">
                          <a:solidFill>
                            <a:srgbClr val="212A33"/>
                          </a:solidFill>
                          <a:latin typeface="Times New Roman"/>
                          <a:ea typeface="Times New Roman"/>
                          <a:cs typeface="Times New Roman"/>
                          <a:sym typeface="Times New Roman"/>
                        </a:rPr>
                        <a:t>FCFS</a:t>
                      </a:r>
                      <a:endParaRPr lang="en-US" sz="1100"/>
                    </a:p>
                  </a:txBody>
                  <a:tcPr marL="0" marR="0" marT="0" marB="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959"/>
                        </a:lnSpc>
                        <a:defRPr/>
                      </a:pPr>
                      <a:r>
                        <a:rPr lang="en-US" sz="799">
                          <a:solidFill>
                            <a:srgbClr val="212A33"/>
                          </a:solidFill>
                          <a:latin typeface="Times New Roman"/>
                          <a:ea typeface="Times New Roman"/>
                          <a:cs typeface="Times New Roman"/>
                          <a:sym typeface="Times New Roman"/>
                        </a:rPr>
                        <a:t>299.88</a:t>
                      </a:r>
                      <a:endParaRPr lang="en-US" sz="1100"/>
                    </a:p>
                  </a:txBody>
                  <a:tcPr marL="0" marR="0" marT="0" marB="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959"/>
                        </a:lnSpc>
                        <a:defRPr/>
                      </a:pPr>
                      <a:r>
                        <a:rPr lang="en-US" sz="799">
                          <a:solidFill>
                            <a:srgbClr val="212A33"/>
                          </a:solidFill>
                          <a:latin typeface="Times New Roman"/>
                          <a:ea typeface="Times New Roman"/>
                          <a:cs typeface="Times New Roman"/>
                          <a:sym typeface="Times New Roman"/>
                        </a:rPr>
                        <a:t>0.00</a:t>
                      </a:r>
                      <a:endParaRPr lang="en-US" sz="1100"/>
                    </a:p>
                  </a:txBody>
                  <a:tcPr marL="0" marR="0" marT="0" marB="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959"/>
                        </a:lnSpc>
                        <a:defRPr/>
                      </a:pPr>
                      <a:r>
                        <a:rPr lang="en-US" sz="799">
                          <a:solidFill>
                            <a:srgbClr val="212A33"/>
                          </a:solidFill>
                          <a:latin typeface="Times New Roman"/>
                          <a:ea typeface="Times New Roman"/>
                          <a:cs typeface="Times New Roman"/>
                          <a:sym typeface="Times New Roman"/>
                        </a:rPr>
                        <a:t>199.45</a:t>
                      </a:r>
                      <a:endParaRPr lang="en-US" sz="1100"/>
                    </a:p>
                  </a:txBody>
                  <a:tcPr marL="0" marR="0" marT="0" marB="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bl>
          </a:graphicData>
        </a:graphic>
      </p:graphicFrame>
      <p:sp>
        <p:nvSpPr>
          <p:cNvPr name="TextBox 63" id="63"/>
          <p:cNvSpPr txBox="true"/>
          <p:nvPr/>
        </p:nvSpPr>
        <p:spPr>
          <a:xfrm rot="0">
            <a:off x="202906" y="3041694"/>
            <a:ext cx="3165810" cy="476250"/>
          </a:xfrm>
          <a:prstGeom prst="rect">
            <a:avLst/>
          </a:prstGeom>
        </p:spPr>
        <p:txBody>
          <a:bodyPr anchor="t" rtlCol="false" tIns="0" lIns="0" bIns="0" rIns="0">
            <a:spAutoFit/>
          </a:bodyPr>
          <a:lstStyle/>
          <a:p>
            <a:pPr algn="l">
              <a:lnSpc>
                <a:spcPts val="1200"/>
              </a:lnSpc>
              <a:spcBef>
                <a:spcPct val="0"/>
              </a:spcBef>
            </a:pPr>
            <a:r>
              <a:rPr lang="en-US" sz="1000">
                <a:solidFill>
                  <a:srgbClr val="000000"/>
                </a:solidFill>
                <a:latin typeface="Times New Roman"/>
                <a:ea typeface="Times New Roman"/>
                <a:cs typeface="Times New Roman"/>
                <a:sym typeface="Times New Roman"/>
              </a:rPr>
              <a:t>Gap: Prior work studies GenAI in asset management, compute-resource markets, and non-price reserves separately[1–3].</a:t>
            </a:r>
          </a:p>
        </p:txBody>
      </p:sp>
      <p:sp>
        <p:nvSpPr>
          <p:cNvPr name="TextBox 64" id="64"/>
          <p:cNvSpPr txBox="true"/>
          <p:nvPr/>
        </p:nvSpPr>
        <p:spPr>
          <a:xfrm rot="0">
            <a:off x="289583" y="4003719"/>
            <a:ext cx="2760812" cy="1085850"/>
          </a:xfrm>
          <a:prstGeom prst="rect">
            <a:avLst/>
          </a:prstGeom>
        </p:spPr>
        <p:txBody>
          <a:bodyPr anchor="t" rtlCol="false" tIns="0" lIns="0" bIns="0" rIns="0">
            <a:spAutoFit/>
          </a:bodyPr>
          <a:lstStyle/>
          <a:p>
            <a:pPr algn="l" marL="215901" indent="-107951" lvl="1">
              <a:lnSpc>
                <a:spcPts val="1200"/>
              </a:lnSpc>
              <a:buFont typeface="Arial"/>
              <a:buChar char="•"/>
            </a:pPr>
            <a:r>
              <a:rPr lang="en-US" sz="1000">
                <a:solidFill>
                  <a:srgbClr val="000000"/>
                </a:solidFill>
                <a:latin typeface="Times New Roman"/>
                <a:ea typeface="Times New Roman"/>
                <a:cs typeface="Times New Roman"/>
                <a:sym typeface="Times New Roman"/>
              </a:rPr>
              <a:t>Public risk score: ri = 100EiSi, where exposure Ei and severity Si ∈ [0,1]. </a:t>
            </a:r>
          </a:p>
          <a:p>
            <a:pPr algn="l" marL="215901" indent="-107951" lvl="1">
              <a:lnSpc>
                <a:spcPts val="1200"/>
              </a:lnSpc>
              <a:buFont typeface="Arial"/>
              <a:buChar char="•"/>
            </a:pPr>
            <a:r>
              <a:rPr lang="en-US" sz="1000">
                <a:solidFill>
                  <a:srgbClr val="000000"/>
                </a:solidFill>
                <a:latin typeface="Times New Roman"/>
                <a:ea typeface="Times New Roman"/>
                <a:cs typeface="Times New Roman"/>
                <a:sym typeface="Times New Roman"/>
              </a:rPr>
              <a:t>Risk scores are frozen before bidding and cannot be manipulated within the batch. </a:t>
            </a:r>
          </a:p>
          <a:p>
            <a:pPr algn="l" marL="215901" indent="-107951" lvl="1">
              <a:lnSpc>
                <a:spcPts val="1200"/>
              </a:lnSpc>
              <a:buFont typeface="Arial"/>
              <a:buChar char="•"/>
            </a:pPr>
            <a:r>
              <a:rPr lang="en-US" sz="1000">
                <a:solidFill>
                  <a:srgbClr val="000000"/>
                </a:solidFill>
                <a:latin typeface="Times New Roman"/>
                <a:ea typeface="Times New Roman"/>
                <a:cs typeface="Times New Roman"/>
                <a:sym typeface="Times New Roman"/>
              </a:rPr>
              <a:t>Requests with ri ≥ 60 are reserve-eligible.</a:t>
            </a:r>
          </a:p>
          <a:p>
            <a:pPr algn="l">
              <a:lnSpc>
                <a:spcPts val="1200"/>
              </a:lnSpc>
            </a:pPr>
          </a:p>
          <a:p>
            <a:pPr algn="l">
              <a:lnSpc>
                <a:spcPts val="1200"/>
              </a:lnSpc>
              <a:spcBef>
                <a:spcPct val="0"/>
              </a:spcBef>
            </a:pPr>
          </a:p>
        </p:txBody>
      </p:sp>
      <p:sp>
        <p:nvSpPr>
          <p:cNvPr name="TextBox 65" id="65"/>
          <p:cNvSpPr txBox="true"/>
          <p:nvPr/>
        </p:nvSpPr>
        <p:spPr>
          <a:xfrm rot="0">
            <a:off x="289583" y="4779397"/>
            <a:ext cx="2760812" cy="295275"/>
          </a:xfrm>
          <a:prstGeom prst="rect">
            <a:avLst/>
          </a:prstGeom>
        </p:spPr>
        <p:txBody>
          <a:bodyPr anchor="t" rtlCol="false" tIns="0" lIns="0" bIns="0" rIns="0">
            <a:spAutoFit/>
          </a:bodyPr>
          <a:lstStyle/>
          <a:p>
            <a:pPr algn="l" marL="215899" indent="-107950" lvl="1">
              <a:lnSpc>
                <a:spcPts val="1199"/>
              </a:lnSpc>
              <a:buFont typeface="Arial"/>
              <a:buChar char="•"/>
            </a:pPr>
            <a:r>
              <a:rPr lang="en-US" sz="999">
                <a:solidFill>
                  <a:srgbClr val="000000"/>
                </a:solidFill>
                <a:latin typeface="Times New Roman"/>
                <a:ea typeface="Times New Roman"/>
                <a:cs typeface="Times New Roman"/>
                <a:sym typeface="Times New Roman"/>
              </a:rPr>
              <a:t>Unspent credits retain outside value; this is one static batch.</a:t>
            </a:r>
          </a:p>
        </p:txBody>
      </p:sp>
      <p:sp>
        <p:nvSpPr>
          <p:cNvPr name="TextBox 66" id="66"/>
          <p:cNvSpPr txBox="true"/>
          <p:nvPr/>
        </p:nvSpPr>
        <p:spPr>
          <a:xfrm rot="0">
            <a:off x="328613" y="5894738"/>
            <a:ext cx="2760812" cy="323850"/>
          </a:xfrm>
          <a:prstGeom prst="rect">
            <a:avLst/>
          </a:prstGeom>
        </p:spPr>
        <p:txBody>
          <a:bodyPr anchor="t" rtlCol="false" tIns="0" lIns="0" bIns="0" rIns="0">
            <a:spAutoFit/>
          </a:bodyPr>
          <a:lstStyle/>
          <a:p>
            <a:pPr algn="l" marL="215901" indent="-107951" lvl="1">
              <a:lnSpc>
                <a:spcPts val="1200"/>
              </a:lnSpc>
              <a:buFont typeface="Arial"/>
              <a:buChar char="•"/>
            </a:pPr>
            <a:r>
              <a:rPr lang="en-US" b="true" sz="1000">
                <a:solidFill>
                  <a:srgbClr val="000000"/>
                </a:solidFill>
                <a:latin typeface="Times New Roman Bold"/>
                <a:ea typeface="Times New Roman Bold"/>
                <a:cs typeface="Times New Roman Bold"/>
                <a:sym typeface="Times New Roman Bold"/>
              </a:rPr>
              <a:t>Social choice:</a:t>
            </a:r>
            <a:r>
              <a:rPr lang="en-US" sz="1000">
                <a:solidFill>
                  <a:srgbClr val="000000"/>
                </a:solidFill>
                <a:latin typeface="Times New Roman"/>
                <a:ea typeface="Times New Roman"/>
                <a:cs typeface="Times New Roman"/>
                <a:sym typeface="Times New Roman"/>
              </a:rPr>
              <a:t> W = V + λC; V = total private research value C = total verified risk coverage</a:t>
            </a:r>
          </a:p>
        </p:txBody>
      </p:sp>
      <p:sp>
        <p:nvSpPr>
          <p:cNvPr name="TextBox 67" id="67"/>
          <p:cNvSpPr txBox="true"/>
          <p:nvPr/>
        </p:nvSpPr>
        <p:spPr>
          <a:xfrm rot="0">
            <a:off x="302123" y="5564381"/>
            <a:ext cx="2760812" cy="323850"/>
          </a:xfrm>
          <a:prstGeom prst="rect">
            <a:avLst/>
          </a:prstGeom>
        </p:spPr>
        <p:txBody>
          <a:bodyPr anchor="t" rtlCol="false" tIns="0" lIns="0" bIns="0" rIns="0">
            <a:spAutoFit/>
          </a:bodyPr>
          <a:lstStyle/>
          <a:p>
            <a:pPr algn="l" marL="215901" indent="-107951" lvl="1">
              <a:lnSpc>
                <a:spcPts val="1200"/>
              </a:lnSpc>
              <a:buFont typeface="Arial"/>
              <a:buChar char="•"/>
            </a:pPr>
            <a:r>
              <a:rPr lang="en-US" b="true" sz="1000">
                <a:solidFill>
                  <a:srgbClr val="000000"/>
                </a:solidFill>
                <a:latin typeface="Times New Roman Bold"/>
                <a:ea typeface="Times New Roman Bold"/>
                <a:cs typeface="Times New Roman Bold"/>
                <a:sym typeface="Times New Roman Bold"/>
              </a:rPr>
              <a:t>Mechanism design</a:t>
            </a:r>
            <a:r>
              <a:rPr lang="en-US" sz="1000">
                <a:solidFill>
                  <a:srgbClr val="000000"/>
                </a:solidFill>
                <a:latin typeface="Times New Roman"/>
                <a:ea typeface="Times New Roman"/>
                <a:cs typeface="Times New Roman"/>
                <a:sym typeface="Times New Roman"/>
              </a:rPr>
              <a:t>: a free reserve changes access and displacement.</a:t>
            </a:r>
          </a:p>
        </p:txBody>
      </p:sp>
      <p:sp>
        <p:nvSpPr>
          <p:cNvPr name="TextBox 68" id="68"/>
          <p:cNvSpPr txBox="true"/>
          <p:nvPr/>
        </p:nvSpPr>
        <p:spPr>
          <a:xfrm rot="0">
            <a:off x="224470" y="6771379"/>
            <a:ext cx="3122682" cy="171450"/>
          </a:xfrm>
          <a:prstGeom prst="rect">
            <a:avLst/>
          </a:prstGeom>
        </p:spPr>
        <p:txBody>
          <a:bodyPr anchor="t" rtlCol="false" tIns="0" lIns="0" bIns="0" rIns="0">
            <a:spAutoFit/>
          </a:bodyPr>
          <a:lstStyle/>
          <a:p>
            <a:pPr algn="l">
              <a:lnSpc>
                <a:spcPts val="1200"/>
              </a:lnSpc>
              <a:spcBef>
                <a:spcPct val="0"/>
              </a:spcBef>
            </a:pPr>
            <a:r>
              <a:rPr lang="en-US" sz="1000">
                <a:solidFill>
                  <a:srgbClr val="000000"/>
                </a:solidFill>
                <a:latin typeface="Times New Roman"/>
                <a:ea typeface="Times New Roman"/>
                <a:cs typeface="Times New Roman"/>
                <a:sym typeface="Times New Roman"/>
              </a:rPr>
              <a:t>Payments are internal transfers; PM utility is u = xv − p.</a:t>
            </a:r>
          </a:p>
        </p:txBody>
      </p:sp>
      <p:sp>
        <p:nvSpPr>
          <p:cNvPr name="TextBox 69" id="69"/>
          <p:cNvSpPr txBox="true"/>
          <p:nvPr/>
        </p:nvSpPr>
        <p:spPr>
          <a:xfrm rot="0">
            <a:off x="7596845" y="6186034"/>
            <a:ext cx="3091510" cy="723900"/>
          </a:xfrm>
          <a:prstGeom prst="rect">
            <a:avLst/>
          </a:prstGeom>
        </p:spPr>
        <p:txBody>
          <a:bodyPr anchor="t" rtlCol="false" tIns="0" lIns="0" bIns="0" rIns="0">
            <a:spAutoFit/>
          </a:bodyPr>
          <a:lstStyle/>
          <a:p>
            <a:pPr algn="l">
              <a:lnSpc>
                <a:spcPts val="1199"/>
              </a:lnSpc>
            </a:pPr>
            <a:r>
              <a:rPr lang="en-US" sz="999" b="true">
                <a:solidFill>
                  <a:srgbClr val="003399"/>
                </a:solidFill>
                <a:latin typeface="Times New Roman Bold"/>
                <a:ea typeface="Times New Roman Bold"/>
                <a:cs typeface="Times New Roman Bold"/>
                <a:sym typeface="Times New Roman Bold"/>
              </a:rPr>
              <a:t>Takeway</a:t>
            </a:r>
          </a:p>
          <a:p>
            <a:pPr algn="l" marL="215899" indent="-107950" lvl="1">
              <a:lnSpc>
                <a:spcPts val="1199"/>
              </a:lnSpc>
              <a:buFont typeface="Arial"/>
              <a:buChar char="•"/>
            </a:pPr>
            <a:r>
              <a:rPr lang="en-US" sz="999">
                <a:solidFill>
                  <a:srgbClr val="000000"/>
                </a:solidFill>
                <a:latin typeface="Times New Roman"/>
                <a:ea typeface="Times New Roman"/>
                <a:cs typeface="Times New Roman"/>
                <a:sym typeface="Times New Roman"/>
              </a:rPr>
              <a:t>Pure FPA prioritizes private research value.</a:t>
            </a:r>
          </a:p>
          <a:p>
            <a:pPr algn="l" marL="215899" indent="-107950" lvl="1">
              <a:lnSpc>
                <a:spcPts val="1199"/>
              </a:lnSpc>
              <a:buFont typeface="Arial"/>
              <a:buChar char="•"/>
            </a:pPr>
            <a:r>
              <a:rPr lang="en-US" sz="999">
                <a:solidFill>
                  <a:srgbClr val="000000"/>
                </a:solidFill>
                <a:latin typeface="Times New Roman"/>
                <a:ea typeface="Times New Roman"/>
                <a:cs typeface="Times New Roman"/>
                <a:sym typeface="Times New Roman"/>
              </a:rPr>
              <a:t>The risk reserve prioritizes verified downside exposure.</a:t>
            </a:r>
          </a:p>
          <a:p>
            <a:pPr algn="l" marL="215899" indent="-107950" lvl="1">
              <a:lnSpc>
                <a:spcPts val="1199"/>
              </a:lnSpc>
              <a:buFont typeface="Arial"/>
              <a:buChar char="•"/>
            </a:pPr>
            <a:r>
              <a:rPr lang="en-US" sz="999">
                <a:solidFill>
                  <a:srgbClr val="000000"/>
                </a:solidFill>
                <a:latin typeface="Times New Roman"/>
                <a:ea typeface="Times New Roman"/>
                <a:cs typeface="Times New Roman"/>
                <a:sym typeface="Times New Roman"/>
              </a:rPr>
              <a:t>The hybrid is justified only when the added risk coverage is worth the displaced private value.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DAHWY7sGUms</dc:identifier>
  <dcterms:modified xsi:type="dcterms:W3CDTF">2011-08-01T06:04:30Z</dcterms:modified>
  <cp:revision>1</cp:revision>
  <dc:title>FP8_PS2_Poster.pptx</dc:title>
</cp:coreProperties>
</file>